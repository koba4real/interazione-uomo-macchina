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10287000" cx="18288000"/>
  <p:notesSz cx="10287000" cy="18288000"/>
  <p:embeddedFontLst>
    <p:embeddedFont>
      <p:font typeface="Schibsted Grotesk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glLiJHirSatTA2m19eHU4DsXOr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SchibstedGrotesk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SchibstedGrotesk-italic.fntdata"/><Relationship Id="rId12" Type="http://schemas.openxmlformats.org/officeDocument/2006/relationships/slide" Target="slides/slide8.xml"/><Relationship Id="rId34" Type="http://schemas.openxmlformats.org/officeDocument/2006/relationships/font" Target="fonts/SchibstedGrotesk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SchibstedGrotesk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0:50 — Buongiorno a tutti. Oggi presentiamo il nostro progetto di Interazione Uomo-Macchina che tratta la valutazione e riprogettazione di BrainBox, una piattaforma web pensata per supportare gli studenti universitari nello studio. 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1:20 — BrainBox è un ambiente integrato per lo studio. Cinque funzioni principali:la prima funzionalità un archivio personale di appunti, condivisibili con la community; i commenti sui documenti pubblici; lo Sbobinatore, che trascrive le lezioni registrate con l'AI; il generatore di AudioNote, che trasforma testi in audio; e ultima funzionalità principale é StudyFlow,che permette agli utenti di pianificare gli esami con task e materiali collegati— </a:t>
            </a:r>
            <a:r>
              <a:rPr lang="en-US"/>
              <a:t>Tutte le funzioni sono riservate agli utenti registrati.</a:t>
            </a:r>
            <a:r>
              <a:rPr lang="en-US"/>
              <a:t>. Qui a destra si vede la dashboard della versione originale: funzionalmente ricca, e proprio per questo interessante da valutare. 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0:50 — Il lavoro segue il seguente ciclo,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sei fasi.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Prima l'analisi della piattaforma,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poi la definizione del profilo utente.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Segue la valutazione euristica,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 ha prodotto il catalogo dei problemi;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su quella base la riprogettazione,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guidata da design pattern.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Infine la validazione: lo sperimento e l'analisi dei dati.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Ogni fase alimenta la successiva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e lascio la parola a Simone parte subito con l'analisi degli utenti.</a:t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55069375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55069375a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55069375a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SIMONE · 0:50 — Dentro quel profilo medio però ci sono persone molto diverse, e per non appesantirlo abbiamo rappresentato le differenze con cinque personas. Martina cerca appunti chiari e visivi. Marco è daltonico: i badge di stato non possono affidarsi solo al colore. Luca lavora part-time e studia nei ritagli: ogni passaggio superfluo per lui è un costo reale. Sakura è una studentessa Erasmus con italiano B1: un'interfaccia che mescola italiano e inglese la disorienta due volte. E Andrea, matricola con dislessia, si sente sopraffatto da piattaforme caotiche. Tempo, lingua e abilità diverse: chiarezza, coerenza e accessibilità non sono estetica, sono requisiti. Teneteli a mente: li ritroverete nei problemi che ora vi mostro.</a:t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SIMONE · 1:15 — Il primo strumento di valutazione è stata l'ispezione euristica, sui dieci principi di Nielsen nella rielaborazione di Mussio. Tre fasi. Nella fase preliminare abbiamo definito l'oggetto di studio, il profilo di riferimento e i principi da adottare. Poi l'esecuzione: ciascuno di noi tre ha analizzato il sistema in modo autonomo e indipendente, per circa una settimana e mezza, in sessioni separate — l'indipendenza è essenziale per non influenzarsi a vicenda. Infine il debriefing: abbiamo unificato i problemi simili, eliminato i duplicati, assegnato a ciascun problema un grado di severità da 0 a 4 e confermato insieme i principi violati. Un dettaglio metodologico: avevamo familiarità diverse col sistema — Okba lo ha sviluppato, noi due no — e questo ha reso le prospettive complementari.</a:t>
            </a:r>
            <a:endParaRPr/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SIMONE · 0:50 — Primo problema rappresentativo: l'etichetta «StudyFlow AI». La sezione per pianificare gli esami si trovava dentro il gruppo «Strumenti AI», con un nome che non comunica la funzione. Formalmente è una violazione di consistenza a bassa severità — ma è l'esempio perfetto di come un problema «piccolo» sulla carta pesi molto nella realtà: nei test, come vedrete, quasi tutti gli utenti si sono persi cercando la sezione esami. La soluzione: la sezione è stata rinominata semplicemente «Esami», portata fuori dagli strumenti AI, e l'intera sidebar è stata riorganizzata con nomi immediati.</a:t>
            </a:r>
            <a:endParaRPr/>
          </a:p>
        </p:txBody>
      </p:sp>
      <p:sp>
        <p:nvSpPr>
          <p:cNvPr id="250" name="Google Shape;2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SIMONE · 0:50 — Secondo problema, stavolta sulla prevenzione degli errori: il form di creazione esame accettava date nel passato. L'esame veniva creato senza alcun avviso — e poi semplicemente non compariva nella lista. L'utente non poteva né capire l'errore né correggerlo: i dati inseriti sparivano nel nulla. Severità 3, rilevante. La soluzione segue il pattern Error Messages di Tidwell: la data viene validata, il salvataggio bloccato, e il messaggio d'errore compare in italiano direttamente sotto il campo che lo ha generato — l'utente capisce subito cosa correggere.</a:t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SIMONE · 0:50 — Terzo problema, il più grave dal punto di vista del flusso di lavoro: gli strumenti AI operavano in completo isolamento. La trascrizione generata dallo Sbobinatore non si poteva salvare tra gli appunti né allegare a un esame: per conservarla bisognava scaricarla sul computer, modificarla e ricaricarla a mano. Uno strumento pensato per far risparmiare tempo lo faceva perdere — l'utilità pratica era vanificata. La soluzione qui è stata strutturale, e la vedrete in dettaglio da Okba: le pagine dedicate sono state eliminate e i generatori integrati direttamente nella sezione Appunti, dove i file generati nascono già salvati, organizzabili e allegabili.</a:t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SIMONE · 0:50 — Ultimo esempio, una delle quattro catastrofi di usabilità: dentro il dettaglio di un esame c'era un calendario… che non funzionava. Un elemento perfettamente visibile e dall'aspetto interattivo, ma completamente inerte: promette una funzione e non la mantiene — il caso peggiore per la fiducia dell'utente. E anche funzionasse, poco senso consultare le scadenze solo da dentro una sezione specifica. Nella riprogettazione il calendario è diventato reale: vive nella navbar, accessibile da qualunque punto dell'applicazione, e mostra automaticamente le scadenze degli esami inseriti. Con questi quattro esempi avete visto il metodo; passo la parola a Okba per la riprogettazione complessiva.</a:t>
            </a:r>
            <a:endParaRPr/>
          </a:p>
        </p:txBody>
      </p:sp>
      <p:sp>
        <p:nvSpPr>
          <p:cNvPr id="327" name="Google Shape;3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SIMONE · 1:10 — Il debriefing ha prodotto 93 problemi unici. La distribuzione per severità mostra un sistema con molte criticità di entità moderata — 39 problemi secondari, 27 accessori — ma anche 25 problemi gravi: 21 rilevanti e 4 vere catastrofi di usabilità. Quanto è completa questa fotografia? Applicando la curva di Nielsen, con probabilità individuale di rilevazione 0,31, tre valutatori intercettano circa il 67% dei problemi reali: stimiamo quindi ~138 problemi totali nell'interfaccia. Un dato interessante è la bassa sovrapposizione: 48, 44 e 36 problemi a testa, in gran parte diversi — conferma empirica che servono più valutatori, con familiarità diverse col sistema.</a:t>
            </a:r>
            <a:endParaRPr/>
          </a:p>
        </p:txBody>
      </p:sp>
      <p:sp>
        <p:nvSpPr>
          <p:cNvPr id="353" name="Google Shape;3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SIMONE · 1:15 — Dove si concentrano le violazioni? Il principio più violato in assoluto è la consistenza, numero 4, con 29 violazioni: termini diversi per la stessa funzione, stili grafici diversi tra le sezioni, italiano e inglese mescolati. Seguono il riconoscimento anziché memoria e — a pari merito con 22 — la visibilità dello stato e le informazioni superflue. Aggregando per categoria, il 55% delle violazioni è di natura cognitiva. E guardando le sezioni, I Miei Appunti guida con 31 problemi, seguita da Esplora Appunti e StudyFlow. Il quadro è chiaro: non sono bug tecnici, è sforzo cognitivo — il sistema costringe l'utente a decodificarlo. Questo orienterà tutta la riprogettazione. Ora vi mostro quattro problemi concreti, scelti per illustrare il metodo.</a:t>
            </a:r>
            <a:endParaRPr/>
          </a:p>
        </p:txBody>
      </p:sp>
      <p:sp>
        <p:nvSpPr>
          <p:cNvPr id="404" name="Google Shape;4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"OKBA · 1:15 — Grazie Simone.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nella seguente slide si mostra l’approccio adottato a 4 passi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—- Primo passo: gli scenari d'uso — abbiamo simulato situazioni concrete, come il primo caricamento di un file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 capire quali criticità pesassero davvero sul percorso dell'utente.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Secondo passo: ogni scelta  d’interazione è ancorata a un riferimento strutturato,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Terzo:abbiamo fissato le idee in prototipi Figma,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 avere un riferimento condiviso su struttura e collocazione degli elementi.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Infine l'implementazione, </a:t>
            </a:r>
            <a:endParaRPr/>
          </a:p>
        </p:txBody>
      </p:sp>
      <p:sp>
        <p:nvSpPr>
          <p:cNvPr id="478" name="Google Shape;4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1:30 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Alla base della nuova interfaccia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abbiamo sviluppato un visual design.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La palette segue la regola 60-30-10: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il 60% dello spazio è bianco e grigio chiaro usato per gli sfondi, card, sidebar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 per un aspetto pulito;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30% è l'azzurro,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che marca tutto ciò che è interattivo: bottoni, link, campi attivi;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il 10% è il nero di testo e icone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subito sotto ,applicando il pattern few colors many hews,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L'azzurro è declinato in tre varianti tonali con ruoli precisi: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chiaro per gli stati di elaborazione,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base per le azioni primarie,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scuro per pressione e selezione.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Accanto alla palette,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quattro componenti trasversali riutilizzati in tutta la piattaforma: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lo stepper dei wizard,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la dropzone con formati e limiti espliciti,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gli empty state con chiamate all'azione,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e la modale di conferma per le operazioni distruttive. </a:t>
            </a:r>
            <a:endParaRPr/>
          </a:p>
        </p:txBody>
      </p:sp>
      <p:sp>
        <p:nvSpPr>
          <p:cNvPr id="514" name="Google Shape;5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1:30 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L'intervento più strutturale riguarda la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 sinistra vedete la sidebar originale: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sei voci, che presentava diversi problemi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 cui nomi che mescolano italiano e inglese,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funzioni nascoste dietro etichette poco chiare.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destra la nuova sidebar: quattro voci, nomi immediati.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«I Miei Appunti» diventa Appunti;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«Esplora Appunti» diventa Community, che ne comunica la natura sociale;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«StudyFlow AI» diventa semplicemente Esami.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Ma la scelta più importante è l'accorpamento: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Sbobinatore e AudioNote non sono più sezioni separate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— sono funzioni dentro Appunti,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perché i file che generano sono materiali di studio e devono vivere con gli altri.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Alla navbar abbiamo poi aggiunto ciò che mancavadi funzionalità: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le notifiche ora funzionano e soddisfano le aspettative dell'utente,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e il calendario — quello che vi ha mostrato Simone — è diventato reale e raggiungibile da qualsiasi pagina.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Il risultato: si sono ottenuti meno voci, meno decisioni e quindi meno carico cognitivo — che era proprio la categoria di violazioni più prevalente nella frequenza che abbiamo visto prima.</a:t>
            </a:r>
            <a:endParaRPr/>
          </a:p>
        </p:txBody>
      </p:sp>
      <p:sp>
        <p:nvSpPr>
          <p:cNvPr id="561" name="Google Shape;56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 vi anticipava Simone,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«I Miei Appunti» era la sezione più critica in assoluto — 31 problemi—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 è per questo quella che abbiamo ripensato più a fondo,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ancorando ogni scelta a un pattern di Tidwell.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Primo problema: gestendo i documenti e organizzandoli con gerarchie profonde le cartelle sparivano dalla vista;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la struttura ora segue il Two-Panel Selector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— a sinistra le cartelle, sempre visibili, a destra i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Secondo problema : presentava viste seprate e incoerenti per :I Miei Appunti, Salvati, Appunti condivisi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 </a:t>
            </a:r>
            <a:r>
              <a:rPr lang="en-US"/>
              <a:t>ora seguono il pattern Module Tabs: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/>
              <a:t>visibili e filtrano la stessa collezione di appunti con lo stesso layout, per consistenza;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Terzo </a:t>
            </a:r>
            <a:r>
              <a:rPr lang="en-US"/>
              <a:t>problema</a:t>
            </a:r>
            <a:r>
              <a:rPr lang="en-US"/>
              <a:t>: i form per il caricamento e l'inserimento accettavano input senza spiegare nulla;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ora seguono Input Hints ed Error Messages — formati e limiti dichiarati prima, errori sotto il campo.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infine le pagine vuote non dicono più solo «nessun documento»: con un Empty State invitano all'azione.</a:t>
            </a:r>
            <a:endParaRPr/>
          </a:p>
        </p:txBody>
      </p:sp>
      <p:sp>
        <p:nvSpPr>
          <p:cNvPr id="612" name="Google Shape;61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1:15 — Questa slide riprende la sezione Sbobinatore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 viveva in una pagina isolata e il suo output non era salvabile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— andava scaricato, modificato e ricaricato manualmente.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riprogettazione ne fa una funzione integrata.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Trascrizioni e audio note si creano dallo stesso comando </a:t>
            </a:r>
            <a:r>
              <a:rPr lang="en-US"/>
              <a:t>«+ Nuovo» </a:t>
            </a:r>
            <a:r>
              <a:rPr lang="en-US"/>
              <a:t>degli altri file e nascono direttamente in Appunti: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già salvate, organizzabili nelle cartelle e allegabili agli esami.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Anche in questa sezione ogni scelta è ancorata a un pattern di Tidwell. Il feedback di elaborazione segue Progress Indicator: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nella lista, ogni file espone un'etichetta di stato persistente — in coda, in elaborazione, pronto, errore 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così l'utente continua a lavorare mentre monitora l'avanzamento.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Infine l'output non è più un blocco di testo indistinto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ora la trascrizione è suddivisa in segmenti con timestamp cliccabili, che sincronizzano il player audio,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e due Module Tabs separano la trascrizione completa dal riassunto.</a:t>
            </a:r>
            <a:endParaRPr/>
          </a:p>
        </p:txBody>
      </p:sp>
      <p:sp>
        <p:nvSpPr>
          <p:cNvPr id="639" name="Google Shape;63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1:10 — La sezione Esami presentava flussi frammentati.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Nella versione originale configurare un esame richiedeva tre viaggi: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creare l'esame, poi spostarsi in un riquadro separato per i task, poi entrare nel dettaglio per collegare i materiali.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 è un'unica modale in tre step seguendo il pattern Wizard di Tidwell: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dati dell'esame, attività di studio, materiali da collegare che vengono scelti direttamente dai propri Appunti.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Un'operazione lineare al posto di tre.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Intorno al wizard, gli altri pattern di Tidwell adottati in questa sezione: Error Messages per la validazione delle date, e Modal Panel per l'eliminazione di esami e task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1:15 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 leggi della Gestalt attraversano ogni schermata;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puo vedere sulla Dashboard.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prima legge: prossimità — le voci di navigazione sono raggruppate vicine nella sidebar, e nei form ogni etichetta sta attaccata al suo campo: la vicinanza comunica l'appartenenza.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seconda: chiusura — le card, con bordo e sfondo bianco, creano contenitori visivi netti: capire a colpo d'occhio quali informazioni stanno insieme.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Tre: similarità — tutti gli elementi interattivi condividono la stessa forma e lo stesso azzurro: link, bottoni, azioni; ciò che si somiglia si usa allo stesso modo. </a:t>
            </a:r>
            <a:endParaRPr/>
          </a:p>
        </p:txBody>
      </p:sp>
      <p:sp>
        <p:nvSpPr>
          <p:cNvPr id="719" name="Google Shape;71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1:00 — Chiudo la riprogettazione con il bilancio complessivo.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Dei 93 problemi individuati ne abbiamo risolti 80, pari all'86 percento.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L'analisi per severità è ancora più significativa: tutte e quattro le catastrofi sono state eliminate — il cento per cento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insieme al 95 percento dei problemi rilevanti.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problemi non risolti sono quasi tutti di severità bassa e riguardano funzionalità accessorie: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 abbiamo rimandati in modo consapevole, dando priorità ai flussi principali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, e li riprenderemo negli sviluppi futuri.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Resta però la domanda centrale: questi interventi funzionano davvero per gli utenti? Per rispondere, passo la parola a Matteo</a:t>
            </a:r>
            <a:endParaRPr/>
          </a:p>
        </p:txBody>
      </p:sp>
      <p:sp>
        <p:nvSpPr>
          <p:cNvPr id="752" name="Google Shape;75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f57d3d38ff_2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g3f57d3d38ff_2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questa parte della presentazione vi illustrerò le fasi sperimentali che abbiamo condotto</a:t>
            </a:r>
            <a:endParaRPr/>
          </a:p>
        </p:txBody>
      </p:sp>
      <p:sp>
        <p:nvSpPr>
          <p:cNvPr id="788" name="Google Shape;788;g3f57d3d38ff_2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f57d3d38ff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3f57d3d38ff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MATTEO · 1:40 — Grazie Okba. La riprogettazione andava verificata con utenti reali. Abbiamo scelto un disegno within-subjects: ogni partecipante ha provato entrambe le versioni. Perché? La ristrutturazione è profonda, e ci interessava proprio come lo stesso utente reagisse a logiche di navigazione diverse — e con 15 partecipanti ottimizziamo le risorse. Il rischio del within-subjects è l'effetto di apprendimento: lo abbiamo controllato con il counterbalancing. Ma attenzione: la divisione non è a metà. Nove utenti hanno seguito l'ordine A poi B, sei l'ordine inverso — una scelta deliberata: volevamo più osservazioni sul percorso tipico di chi passa dal sistema vecchio al nuovo, mantenendo il gruppo B-A per isolare statisticamente l'apprendimento. Le condizioni erano rigorosamente identiche: stesso portatile, stesso browser, mouse esterno, estensioni per tracciare click e tempi, moduli digitali e consenso informato. E prima di partire, un test pilota con un partecipante esterno ci ha fatto ricalibrare le tracce degli scenari.</a:t>
            </a:r>
            <a:endParaRPr/>
          </a:p>
        </p:txBody>
      </p:sp>
      <p:sp>
        <p:nvSpPr>
          <p:cNvPr id="819" name="Google Shape;819;g3f57d3d38ff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f3b1e9ffd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g3f3b1e9ffd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MATTEO · 1:40 — Grazie Okba. La riprogettazione andava verificata con utenti reali. Abbiamo scelto un disegno within-subjects: ogni partecipante ha provato entrambe le versioni. Perché? La ristrutturazione è profonda, e ci interessava proprio come lo stesso utente reagisse a logiche di navigazione diverse — e con 15 partecipanti ottimizziamo le risorse. Il rischio del within-subjects è l'effetto di apprendimento: lo abbiamo controllato con il counterbalancing. Ma attenzione: la divisione non è a metà. Nove utenti hanno seguito l'ordine A poi B, sei l'ordine inverso — una scelta deliberata: volevamo più osservazioni sul percorso tipico di chi passa dal sistema vecchio al nuovo, mantenendo il gruppo B-A per isolare statisticamente l'apprendimento. Le condizioni erano rigorosamente identiche: stesso portatile, stesso browser, mouse esterno, estensioni per tracciare click e tempi, moduli digitali e consenso informato. E prima di partire, un test pilota con un partecipante esterno ci ha fatto ricalibrare le tracce degli scenari.</a:t>
            </a:r>
            <a:endParaRPr/>
          </a:p>
        </p:txBody>
      </p:sp>
      <p:sp>
        <p:nvSpPr>
          <p:cNvPr id="855" name="Google Shape;855;g3f3b1e9ffd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MATTEO · 1:20 — Ogni sessione aveva due fasi, a libertà crescente. Prima sei compiti guidati, in ordine di difficoltà: registrazione, caricamento in una cartella, pianificazione di un esame, rinomina di un file, salvataggio di un documento dalla community e un commento. Oltre a darci metriche precise, i compiti servivano anche da addestramento implicito. Poi due scenari realistici, senza istruzioni passo-passo: «il contributore attivo», che condivide i propri appunti e prepara un nuovo esame con materiale della community, e «l'organizzatore seriale», che struttura cartelle e converte un audio di lezione con gli strumenti AI. Qui l'utente sceglieva liberamente il percorso. Cosa misuriamo: success rate, errori, tempo e click — media e deviazione standard, con test di significatività a soglia cinque percento — e la difficoltà percepita su scala Likert, per cui usiamo la mediana, corretta per una scala ordinale. Il protocollo thinking-aloud ci ha dato anche il lato qualitativo. Una scelta interpretativa: priorità alla riduzione degli errori rispetto al tempo — meglio un'interazione stabile che una veloce ma fragile.</a:t>
            </a:r>
            <a:endParaRPr/>
          </a:p>
        </p:txBody>
      </p:sp>
      <p:sp>
        <p:nvSpPr>
          <p:cNvPr id="897" name="Google Shape;8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MATTEO · 1:40 — I risultati. Primo dato: success rate del cento per cento, ovunque, in entrambe le versioni — le differenze quindi vanno cercate nella qualità dell'interazione, non nella riuscita. Nei compiti semplici le due versioni si equivalgono; è negli scenari complessi, dove l'utente naviga liberamente, che la riprogettazione domina. Nello scenario dell'organizzatore seriale gli errori crollano dell'83 percento — p 0,001 — e il tempo del 40 percento. Nel contributore attivo i click si dimezzano: meno 48 percento, con p 0,00001: praticamente impossibile che sia un caso. E la fatica percepita conferma: la mediana passa da 4, difficile, a 2, facile, nello scenario 1, e da 3 a 2 nello scenario 2. Un'onestà doverosa: c'è una singola regressione. Nella rinomina di un file la difficoltà percepita è leggermente salita — il comando «Modifica» era generico e il campo si apriva vuoto. Ci torno tra poco, perché è diventata un punto degli sviluppi futuri.</a:t>
            </a:r>
            <a:endParaRPr/>
          </a:p>
        </p:txBody>
      </p:sp>
      <p:sp>
        <p:nvSpPr>
          <p:cNvPr id="944" name="Google Shape;94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f3b43976e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g3f3b43976e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MATTEO · 1:40 — I risultati. Primo dato: success rate del cento per cento, ovunque, in entrambe le versioni — le differenze quindi vanno cercate nella qualità dell'interazione, non nella riuscita. Nei compiti semplici le due versioni si equivalgono; è negli scenari complessi, dove l'utente naviga liberamente, che la riprogettazione domina. Nello scenario dell'organizzatore seriale gli errori crollano dell'83 percento — p 0,001 — e il tempo del 40 percento. Nel contributore attivo i click si dimezzano: meno 48 percento, con p 0,00001: praticamente impossibile che sia un caso. E la fatica percepita conferma: la mediana passa da 4, difficile, a 2, facile, nello scenario 1, e da 3 a 2 nello scenario 2. Un'onestà doverosa: c'è una singola regressione. Nella rinomina di un file la difficoltà percepita è leggermente salita — il comando «Modifica» era generico e il campo si apriva vuoto. Ci torno tra poco, perché è diventata un punto degli sviluppi futuri.</a:t>
            </a:r>
            <a:endParaRPr/>
          </a:p>
        </p:txBody>
      </p:sp>
      <p:sp>
        <p:nvSpPr>
          <p:cNvPr id="984" name="Google Shape;984;g3f3b43976e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MATTEO · 1:40 — Il quadro si chiude con il System Usability Scale, compilato dopo ogni versione. La versione originale si ferma a 47,67: nettamente sotto la soglia di sufficienza, che la letteratura fissa a 68. La versione riprogettata sale a 81,33: sopra la soglia dell'usabilità eccellente. Ma il dato più interessante emerge scomponendo per ordine di esecuzione. Chi ha provato prima l'originale assegna alla B un 89,44 — il salto è percepito subito. Chi invece parte dalla B e poi torna alla A la punisce durissimamente: 24,58 — è l'effetto contrasto: una volta vista un'interfaccia chiara, i difetti della vecchia diventano intollerabili. E un'ultima onestà metodologica: la B valutata da sola, dal gruppo che la vedeva per prima, vale 69,17 — sopra la soglia, ma con margini di crescita. Parte dell'81 complessivo è amplificato proprio dal confronto con la versione originale. La direzione però è inequivocabile: B batte A per ogni utente, in ogni ordine. Passo a Okba per chiudere.</a:t>
            </a:r>
            <a:endParaRPr/>
          </a:p>
        </p:txBody>
      </p:sp>
      <p:sp>
        <p:nvSpPr>
          <p:cNvPr id="1059" name="Google Shape;105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OKBA · 1:30 — Chiudo io. Gli sviluppi futuri non sono una lista dei desideri: ognuno nasce da un punto preciso di questa presentazione. Il primo, la rinomina ridisegnata — azione «Rinomina» dedicata, campo precompilato, modifica in linea dall'anteprima — risponde direttamente all'unica regressione emersa nei risultati, il compito C4. Il secondo, il caricamento ibrido — creare la cartella e caricarvi il file in un solo passaggio — è la richiesta di miglioramento più ricorrente raccolta durante i test, sul compito C2. Il terzo, le azioni contestuali come «Aggiungi a esame» dalla community, nasce dall'osservazione degli scenari liberi, dove collegare materiale a un esame era il flusso più frequente. Oltre a queste, le estensioni a più lungo termine già previste nella relazione: output AI modificabili, assistente conversazionale, pianificazione intelligente dello studio, la sezione Workshop e l'app mobile. Il filo conduttore è sempre lo stesso: partire da un dato osservato e chiudere il cerchio. È così che il metodo HCI trasforma una piattaforma ricca di funzioni in una che gli studenti vogliono davvero usare. Grazie </a:t>
            </a:r>
            <a:endParaRPr/>
          </a:p>
        </p:txBody>
      </p:sp>
      <p:sp>
        <p:nvSpPr>
          <p:cNvPr id="1091" name="Google Shape;109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625" lIns="167625" spcFirstLastPara="1" rIns="167625" wrap="square" tIns="167625">
            <a:noAutofit/>
          </a:bodyPr>
          <a:lstStyle>
            <a:lvl1pPr lvl="0" algn="r">
              <a:buNone/>
              <a:defRPr sz="2400">
                <a:solidFill>
                  <a:schemeClr val="tx1"/>
                </a:solidFill>
              </a:defRPr>
            </a:lvl1pPr>
            <a:lvl2pPr lvl="1" algn="r">
              <a:buNone/>
              <a:defRPr sz="2400">
                <a:solidFill>
                  <a:schemeClr val="tx1"/>
                </a:solidFill>
              </a:defRPr>
            </a:lvl2pPr>
            <a:lvl3pPr lvl="2" algn="r">
              <a:buNone/>
              <a:defRPr sz="2400">
                <a:solidFill>
                  <a:schemeClr val="tx1"/>
                </a:solidFill>
              </a:defRPr>
            </a:lvl3pPr>
            <a:lvl4pPr lvl="3" algn="r">
              <a:buNone/>
              <a:defRPr sz="2400">
                <a:solidFill>
                  <a:schemeClr val="tx1"/>
                </a:solidFill>
              </a:defRPr>
            </a:lvl4pPr>
            <a:lvl5pPr lvl="4" algn="r">
              <a:buNone/>
              <a:defRPr sz="2400">
                <a:solidFill>
                  <a:schemeClr val="tx1"/>
                </a:solidFill>
              </a:defRPr>
            </a:lvl5pPr>
            <a:lvl6pPr lvl="5" algn="r">
              <a:buNone/>
              <a:defRPr sz="2400">
                <a:solidFill>
                  <a:schemeClr val="tx1"/>
                </a:solidFill>
              </a:defRPr>
            </a:lvl6pPr>
            <a:lvl7pPr lvl="6" algn="r">
              <a:buNone/>
              <a:defRPr sz="2400">
                <a:solidFill>
                  <a:schemeClr val="tx1"/>
                </a:solidFill>
              </a:defRPr>
            </a:lvl7pPr>
            <a:lvl8pPr lvl="7" algn="r">
              <a:buNone/>
              <a:defRPr sz="2400">
                <a:solidFill>
                  <a:schemeClr val="tx1"/>
                </a:solidFill>
              </a:defRPr>
            </a:lvl8pPr>
            <a:lvl9pPr lvl="8" algn="r">
              <a:buNone/>
              <a:defRPr sz="24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A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1143000" y="1047750"/>
            <a:ext cx="495300" cy="495300"/>
          </a:xfrm>
          <a:prstGeom prst="roundRect">
            <a:avLst>
              <a:gd fmla="val 269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104900" y="1047750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250"/>
              <a:buFont typeface="Schibsted Grotesk"/>
              <a:buNone/>
            </a:pPr>
            <a:r>
              <a:rPr b="1" i="0" lang="en-US" sz="22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809750" y="1133475"/>
            <a:ext cx="13550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BrainBox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146286" y="1157288"/>
            <a:ext cx="4398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4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CFE4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PROGETTO HCI · A.A. 2025/26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143000" y="3532436"/>
            <a:ext cx="14716125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Schibsted Grotesk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Riprogettare l'esperienza di studio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143000" y="6142286"/>
            <a:ext cx="15716250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2850"/>
              <a:buFont typeface="Schibsted Grotesk"/>
              <a:buNone/>
            </a:pPr>
            <a:r>
              <a:rPr lang="en-US" sz="2850">
                <a:solidFill>
                  <a:srgbClr val="DCEB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 utente, v</a:t>
            </a:r>
            <a:r>
              <a:rPr b="0" i="0" lang="en-US" sz="2850" u="none" cap="none" strike="noStrike">
                <a:solidFill>
                  <a:srgbClr val="DCEB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alutazione euristica, redesign e test</a:t>
            </a:r>
            <a:r>
              <a:rPr b="0" i="0" lang="en-US" sz="2850" u="none" cap="none" strike="noStrike">
                <a:solidFill>
                  <a:srgbClr val="DCEB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con utenti</a:t>
            </a:r>
            <a:r>
              <a:rPr b="0" i="0" lang="en-US" sz="2850" u="none" cap="none" strike="noStrike">
                <a:solidFill>
                  <a:srgbClr val="DCEB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della piattaforma BrainBox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43000" y="8658225"/>
            <a:ext cx="2021700" cy="841500"/>
          </a:xfrm>
          <a:prstGeom prst="roundRect">
            <a:avLst>
              <a:gd fmla="val 50000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676400" y="8751060"/>
            <a:ext cx="14886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430350" y="8658225"/>
            <a:ext cx="2185200" cy="841500"/>
          </a:xfrm>
          <a:prstGeom prst="roundRect">
            <a:avLst>
              <a:gd fmla="val 50000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033589" y="8751050"/>
            <a:ext cx="1745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842700" y="8658225"/>
            <a:ext cx="2412000" cy="841500"/>
          </a:xfrm>
          <a:prstGeom prst="roundRect">
            <a:avLst>
              <a:gd fmla="val 50000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511320" y="8751038"/>
            <a:ext cx="1903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2335173" y="8620125"/>
            <a:ext cx="48098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Prof.ssa Daniela Fogli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0932400" y="8963025"/>
            <a:ext cx="6212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FDDFF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Corso di Laurea Magi</a:t>
            </a:r>
            <a:r>
              <a:rPr lang="en-US" sz="1800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strale </a:t>
            </a:r>
            <a:r>
              <a:rPr b="0" i="0" lang="en-US" sz="180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 Ingegneria Informatica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952500" y="962025"/>
            <a:ext cx="23950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INTRODUZIONE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La piattaforma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52500" y="3933825"/>
            <a:ext cx="5905500" cy="9525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52500" y="3248025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676400" y="3076575"/>
            <a:ext cx="44113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Appunti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676400" y="3448050"/>
            <a:ext cx="44113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Archivio personale, pubblico o privato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52500" y="5457825"/>
            <a:ext cx="5905500" cy="9525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952500" y="4633913"/>
            <a:ext cx="5226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627584" y="4324350"/>
            <a:ext cx="575345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Community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627584" y="4695825"/>
            <a:ext cx="538732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Ricerca, download e commenti sui documenti condivisi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52500" y="6705600"/>
            <a:ext cx="5905500" cy="9525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52500" y="60198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676400" y="5848350"/>
            <a:ext cx="459111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Sbobinatore AI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676400" y="6219825"/>
            <a:ext cx="459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Da audio-lezione a trascrizione testuale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52500" y="7953375"/>
            <a:ext cx="5905500" cy="9525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952500" y="7267575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676400" y="7096125"/>
            <a:ext cx="361260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AudioNote AI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676400" y="7467600"/>
            <a:ext cx="36126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Sintesi vocale di qualsiasi testo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52500" y="8653463"/>
            <a:ext cx="549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654373" y="8343900"/>
            <a:ext cx="57239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StudyFlow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654373" y="8715375"/>
            <a:ext cx="535973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Pianificazione degli esami: scadenze, task, materiali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610624" y="2867025"/>
            <a:ext cx="9734401" cy="5175647"/>
          </a:xfrm>
          <a:prstGeom prst="roundRect">
            <a:avLst>
              <a:gd fmla="val 2576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3">
            <a:alphaModFix/>
          </a:blip>
          <a:srcRect b="-87" l="0" r="0" t="-87"/>
          <a:stretch/>
        </p:blipFill>
        <p:spPr>
          <a:xfrm>
            <a:off x="7610624" y="2867025"/>
            <a:ext cx="9734401" cy="517564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10834836" y="8214122"/>
            <a:ext cx="36144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Versione originale ·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952500" y="962025"/>
            <a:ext cx="23950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INTRODUZIONE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Il percorso di lavoro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19250" y="4680793"/>
            <a:ext cx="15049500" cy="28575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52500" y="4395043"/>
            <a:ext cx="590550" cy="5905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14400" y="4395043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52500" y="5137993"/>
            <a:ext cx="2584400" cy="651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 della piattaforma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52500" y="5903565"/>
            <a:ext cx="2584400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10 sezioni mappate e documentate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727400" y="4395043"/>
            <a:ext cx="590550" cy="5905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689300" y="4395043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727400" y="5137993"/>
            <a:ext cx="196404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Profilo utente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727400" y="5596979"/>
            <a:ext cx="2584400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Studente universitario + 5 personas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502301" y="4395043"/>
            <a:ext cx="590550" cy="5905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464201" y="4395043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502301" y="5137993"/>
            <a:ext cx="2584549" cy="651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Valutazione euristica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502301" y="5903565"/>
            <a:ext cx="2584549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 valutatori · 93 problemi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277350" y="4395043"/>
            <a:ext cx="590550" cy="5905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239250" y="4395043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277350" y="5137993"/>
            <a:ext cx="2318802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277350" y="5596979"/>
            <a:ext cx="2584400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Pattern di Tidwell + leggi della Gestalt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2052250" y="4395043"/>
            <a:ext cx="590550" cy="5905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2014150" y="4395043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2052250" y="5137993"/>
            <a:ext cx="1842567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Esperimento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2052250" y="5596979"/>
            <a:ext cx="2584400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15 utenti · within-subjects · A vs 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4827151" y="4395043"/>
            <a:ext cx="590550" cy="5905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4789051" y="4395043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4827151" y="5137993"/>
            <a:ext cx="117604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Risultati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4827151" y="5596979"/>
            <a:ext cx="2584549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Metriche, SUS e confronto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52500" y="6939707"/>
            <a:ext cx="964406" cy="428625"/>
          </a:xfrm>
          <a:prstGeom prst="roundRect">
            <a:avLst>
              <a:gd fmla="val 50000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1143000" y="7015907"/>
            <a:ext cx="6596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727400" y="6939707"/>
            <a:ext cx="1201936" cy="428625"/>
          </a:xfrm>
          <a:prstGeom prst="roundRect">
            <a:avLst>
              <a:gd fmla="val 50000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3917900" y="7015907"/>
            <a:ext cx="89713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502301" y="6939707"/>
            <a:ext cx="1201936" cy="428625"/>
          </a:xfrm>
          <a:prstGeom prst="roundRect">
            <a:avLst>
              <a:gd fmla="val 50000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692801" y="7015907"/>
            <a:ext cx="89713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277350" y="6939707"/>
            <a:ext cx="964406" cy="428625"/>
          </a:xfrm>
          <a:prstGeom prst="roundRect">
            <a:avLst>
              <a:gd fmla="val 50000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9467850" y="7015907"/>
            <a:ext cx="6596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2052250" y="6939707"/>
            <a:ext cx="1155948" cy="428625"/>
          </a:xfrm>
          <a:prstGeom prst="roundRect">
            <a:avLst>
              <a:gd fmla="val 50000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2242750" y="7015907"/>
            <a:ext cx="8511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4827151" y="6939707"/>
            <a:ext cx="1155948" cy="428625"/>
          </a:xfrm>
          <a:prstGeom prst="roundRect">
            <a:avLst>
              <a:gd fmla="val 50000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5017651" y="7015907"/>
            <a:ext cx="8511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2767013"/>
            <a:ext cx="17564100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33854" y="6400446"/>
            <a:ext cx="1304475" cy="538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55069375a_0_12"/>
          <p:cNvSpPr txBox="1"/>
          <p:nvPr>
            <p:ph idx="12" type="sldNum"/>
          </p:nvPr>
        </p:nvSpPr>
        <p:spPr>
          <a:xfrm>
            <a:off x="17078043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g3f55069375a_0_12"/>
          <p:cNvSpPr/>
          <p:nvPr/>
        </p:nvSpPr>
        <p:spPr>
          <a:xfrm>
            <a:off x="952500" y="962025"/>
            <a:ext cx="3585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 DEGLI UTENTI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f55069375a_0_12"/>
          <p:cNvSpPr/>
          <p:nvPr/>
        </p:nvSpPr>
        <p:spPr>
          <a:xfrm>
            <a:off x="15006637" y="857250"/>
            <a:ext cx="2328900" cy="48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55069375a_0_12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55069375a_0_12"/>
          <p:cNvSpPr/>
          <p:nvPr/>
        </p:nvSpPr>
        <p:spPr>
          <a:xfrm>
            <a:off x="15473363" y="962025"/>
            <a:ext cx="178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55069375a_0_12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Profilo utente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55069375a_0_12"/>
          <p:cNvSpPr/>
          <p:nvPr/>
        </p:nvSpPr>
        <p:spPr>
          <a:xfrm>
            <a:off x="952500" y="3476625"/>
            <a:ext cx="4539300" cy="2002800"/>
          </a:xfrm>
          <a:prstGeom prst="roundRect">
            <a:avLst>
              <a:gd fmla="val 7609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55069375a_0_12"/>
          <p:cNvSpPr/>
          <p:nvPr/>
        </p:nvSpPr>
        <p:spPr>
          <a:xfrm>
            <a:off x="1169103" y="3643175"/>
            <a:ext cx="4106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PSICOLOGICHE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55069375a_0_12"/>
          <p:cNvSpPr/>
          <p:nvPr/>
        </p:nvSpPr>
        <p:spPr>
          <a:xfrm>
            <a:off x="1169100" y="4098075"/>
            <a:ext cx="38445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Stile co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gnitivo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concreto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Attitudine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positiva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Motivazione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alta</a:t>
            </a:r>
            <a:endParaRPr b="1" sz="2025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130" name="Google Shape;130;g3f55069375a_0_12"/>
          <p:cNvSpPr/>
          <p:nvPr/>
        </p:nvSpPr>
        <p:spPr>
          <a:xfrm>
            <a:off x="6874350" y="3476625"/>
            <a:ext cx="4539300" cy="2002800"/>
          </a:xfrm>
          <a:prstGeom prst="roundRect">
            <a:avLst>
              <a:gd fmla="val 7609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55069375a_0_12"/>
          <p:cNvSpPr/>
          <p:nvPr/>
        </p:nvSpPr>
        <p:spPr>
          <a:xfrm>
            <a:off x="7156328" y="3611842"/>
            <a:ext cx="4106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CONOSCENZA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55069375a_0_12"/>
          <p:cNvSpPr/>
          <p:nvPr/>
        </p:nvSpPr>
        <p:spPr>
          <a:xfrm>
            <a:off x="7156325" y="3996300"/>
            <a:ext cx="4046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Linguaggio nativo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italiano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Titolo di studio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diploma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Alfabetizzazione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medio-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alta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t/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133" name="Google Shape;133;g3f55069375a_0_12"/>
          <p:cNvSpPr/>
          <p:nvPr/>
        </p:nvSpPr>
        <p:spPr>
          <a:xfrm>
            <a:off x="12796200" y="3476625"/>
            <a:ext cx="4539300" cy="2002800"/>
          </a:xfrm>
          <a:prstGeom prst="roundRect">
            <a:avLst>
              <a:gd fmla="val 7609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55069375a_0_12"/>
          <p:cNvSpPr/>
          <p:nvPr/>
        </p:nvSpPr>
        <p:spPr>
          <a:xfrm>
            <a:off x="13012803" y="3611842"/>
            <a:ext cx="4106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ESPERIENZA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55069375a_0_12"/>
          <p:cNvSpPr/>
          <p:nvPr/>
        </p:nvSpPr>
        <p:spPr>
          <a:xfrm>
            <a:off x="13012800" y="4027965"/>
            <a:ext cx="41061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Compito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esperto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Applicazione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media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Sistemi informatici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alta</a:t>
            </a:r>
            <a:endParaRPr b="1" sz="2025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t/>
            </a:r>
            <a:endParaRPr b="1" sz="2025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136" name="Google Shape;136;g3f55069375a_0_12"/>
          <p:cNvSpPr/>
          <p:nvPr/>
        </p:nvSpPr>
        <p:spPr>
          <a:xfrm>
            <a:off x="952350" y="5936475"/>
            <a:ext cx="4539300" cy="2002800"/>
          </a:xfrm>
          <a:prstGeom prst="roundRect">
            <a:avLst>
              <a:gd fmla="val 7609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55069375a_0_12"/>
          <p:cNvSpPr/>
          <p:nvPr/>
        </p:nvSpPr>
        <p:spPr>
          <a:xfrm>
            <a:off x="1168953" y="6180775"/>
            <a:ext cx="4106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AMBIENTALI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55069375a_0_12"/>
          <p:cNvSpPr/>
          <p:nvPr/>
        </p:nvSpPr>
        <p:spPr>
          <a:xfrm>
            <a:off x="1168950" y="6615575"/>
            <a:ext cx="41919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Uso del sistema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facoltativo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Addestramento base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manuale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Categorie di lavoro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studente</a:t>
            </a:r>
            <a:endParaRPr b="1" sz="2025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139" name="Google Shape;139;g3f55069375a_0_12"/>
          <p:cNvSpPr/>
          <p:nvPr/>
        </p:nvSpPr>
        <p:spPr>
          <a:xfrm>
            <a:off x="6874350" y="5936475"/>
            <a:ext cx="4539300" cy="1612800"/>
          </a:xfrm>
          <a:prstGeom prst="roundRect">
            <a:avLst>
              <a:gd fmla="val 7609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55069375a_0_12"/>
          <p:cNvSpPr/>
          <p:nvPr/>
        </p:nvSpPr>
        <p:spPr>
          <a:xfrm>
            <a:off x="7090953" y="6180775"/>
            <a:ext cx="4106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FISICHE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55069375a_0_12"/>
          <p:cNvSpPr/>
          <p:nvPr/>
        </p:nvSpPr>
        <p:spPr>
          <a:xfrm>
            <a:off x="7090950" y="6615575"/>
            <a:ext cx="4191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Daltonismo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no</a:t>
            </a:r>
            <a:endParaRPr b="1" sz="2025">
              <a:solidFill>
                <a:srgbClr val="0F4CC2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Disabilità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1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 </a:t>
            </a:r>
            <a:r>
              <a:rPr b="1" lang="en-US" sz="2025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nessuna</a:t>
            </a:r>
            <a:endParaRPr b="1" sz="2025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142" name="Google Shape;142;g3f55069375a_0_12"/>
          <p:cNvSpPr/>
          <p:nvPr/>
        </p:nvSpPr>
        <p:spPr>
          <a:xfrm>
            <a:off x="952500" y="2581275"/>
            <a:ext cx="18021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2550"/>
              <a:buFont typeface="Schibsted Grotesk"/>
              <a:buNone/>
            </a:pPr>
            <a:r>
              <a:rPr b="1" lang="en-US" sz="25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Studente universitario medio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55069375a_0_12"/>
          <p:cNvSpPr/>
          <p:nvPr/>
        </p:nvSpPr>
        <p:spPr>
          <a:xfrm>
            <a:off x="952350" y="8396329"/>
            <a:ext cx="16383000" cy="1047900"/>
          </a:xfrm>
          <a:prstGeom prst="roundRect">
            <a:avLst>
              <a:gd fmla="val 14545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55069375a_0_12"/>
          <p:cNvSpPr/>
          <p:nvPr/>
        </p:nvSpPr>
        <p:spPr>
          <a:xfrm>
            <a:off x="1333350" y="8743411"/>
            <a:ext cx="362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250"/>
              <a:buFont typeface="Schibsted Grotesk"/>
              <a:buNone/>
            </a:pPr>
            <a:r>
              <a:rPr b="1" i="0" lang="en-US" sz="22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55069375a_0_12"/>
          <p:cNvSpPr/>
          <p:nvPr/>
        </p:nvSpPr>
        <p:spPr>
          <a:xfrm>
            <a:off x="1809600" y="8744000"/>
            <a:ext cx="15076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2250"/>
              <a:buFont typeface="Schibsted Grotesk"/>
              <a:buNone/>
            </a:pPr>
            <a:r>
              <a:rPr b="1" lang="en-US" sz="22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La piattaforma è destinata a un gruppo ristretto ed esclusivo di utenti: gli studenti universitari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952500" y="962025"/>
            <a:ext cx="35852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 DEGLI UTENTI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5006637" y="857250"/>
            <a:ext cx="2328863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15473363" y="962025"/>
            <a:ext cx="17864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Personas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952500" y="2867025"/>
            <a:ext cx="3093600" cy="5348700"/>
          </a:xfrm>
          <a:prstGeom prst="roundRect">
            <a:avLst>
              <a:gd fmla="val 5542" name="adj"/>
            </a:avLst>
          </a:prstGeom>
          <a:solidFill>
            <a:srgbClr val="FFFFFF"/>
          </a:solidFill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228725" y="3200400"/>
            <a:ext cx="647700" cy="6477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1190625" y="3200400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228725" y="4000500"/>
            <a:ext cx="279536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Martina Rossi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228725" y="4362450"/>
            <a:ext cx="27953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Psicologia · 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228725" y="4791075"/>
            <a:ext cx="26175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Cerca appunti chiari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Le piace aiutare e confrontarsi con i compagni.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Predilige organizzazione dei materiali universitari.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274787" y="2867025"/>
            <a:ext cx="3093600" cy="5348700"/>
          </a:xfrm>
          <a:prstGeom prst="roundRect">
            <a:avLst>
              <a:gd fmla="val 5542" name="adj"/>
            </a:avLst>
          </a:prstGeom>
          <a:solidFill>
            <a:srgbClr val="FFFFFF"/>
          </a:solidFill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4551015" y="3200400"/>
            <a:ext cx="647700" cy="6477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512915" y="3200400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51015" y="4000500"/>
            <a:ext cx="279536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Marco Esposito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51015" y="4362450"/>
            <a:ext cx="27953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Ing. Gestionale · 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51025" y="4791075"/>
            <a:ext cx="2617500" cy="22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Apprezza strumenti digitali che semplificano e velocizzano lo studio. Predilige piattaforme con interfacce ordinate e accessibili per utenti daltonici.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597075" y="2867025"/>
            <a:ext cx="3093600" cy="5348700"/>
          </a:xfrm>
          <a:prstGeom prst="roundRect">
            <a:avLst>
              <a:gd fmla="val 5542" name="adj"/>
            </a:avLst>
          </a:prstGeom>
          <a:solidFill>
            <a:srgbClr val="FFFFFF"/>
          </a:solidFill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873305" y="3200400"/>
            <a:ext cx="647700" cy="6477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7835205" y="3200400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LB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873305" y="4000500"/>
            <a:ext cx="279536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Luca Bianchi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873305" y="4362450"/>
            <a:ext cx="27953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Economia · 27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873305" y="4791075"/>
            <a:ext cx="2617477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Vuole laurearsi in corso nonostante il lavoro. Predilige strumenti che gli permettano di ottimizzare il tempo. Non sopporta applicazioni lente.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0919363" y="2867025"/>
            <a:ext cx="3093600" cy="5348700"/>
          </a:xfrm>
          <a:prstGeom prst="roundRect">
            <a:avLst>
              <a:gd fmla="val 5542" name="adj"/>
            </a:avLst>
          </a:prstGeom>
          <a:solidFill>
            <a:srgbClr val="FFFFFF"/>
          </a:solidFill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11195596" y="3200400"/>
            <a:ext cx="647700" cy="6477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1157496" y="3200400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1195596" y="4000500"/>
            <a:ext cx="279536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Sakura Suzuki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1195596" y="4362450"/>
            <a:ext cx="27953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Comunicazione · 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11195596" y="4791075"/>
            <a:ext cx="2617477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Studentessa in Erasmus. Cerca materiale semplificato e traduzioni automatiche. Ha bisogno di una piattaforma intuitiva.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4241650" y="2867025"/>
            <a:ext cx="3093600" cy="5348700"/>
          </a:xfrm>
          <a:prstGeom prst="roundRect">
            <a:avLst>
              <a:gd fmla="val 5542" name="adj"/>
            </a:avLst>
          </a:prstGeom>
          <a:solidFill>
            <a:srgbClr val="FFFFFF"/>
          </a:solidFill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4517886" y="3200400"/>
            <a:ext cx="647700" cy="64770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14479786" y="3200400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4517886" y="4000500"/>
            <a:ext cx="279536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Andrea Cacace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4517886" y="4362450"/>
            <a:ext cx="27953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Ing. Informatica · 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14517886" y="4791075"/>
            <a:ext cx="2617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Matricola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. Cerca strumenti digitali e app che possano rendergli 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più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semplice la gestione degli appunti e la collaborazione con i compagni.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5156586" y="7626704"/>
            <a:ext cx="1340100" cy="4095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15289936" y="7674241"/>
            <a:ext cx="1073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Motivato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952500" y="8591700"/>
            <a:ext cx="16383000" cy="838200"/>
          </a:xfrm>
          <a:prstGeom prst="roundRect">
            <a:avLst>
              <a:gd fmla="val 15686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1371525" y="8811941"/>
            <a:ext cx="362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250"/>
              <a:buFont typeface="Schibsted Grotesk"/>
              <a:buNone/>
            </a:pPr>
            <a:r>
              <a:rPr b="1" i="0" lang="en-US" sz="22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1876350" y="8815526"/>
            <a:ext cx="12489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2250"/>
              <a:buFont typeface="Schibsted Grotesk"/>
              <a:buNone/>
            </a:pPr>
            <a:r>
              <a:rPr b="1" lang="en-US" sz="22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Cinque personaggi </a:t>
            </a:r>
            <a:r>
              <a:rPr b="1" lang="en-US" sz="22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fittizi</a:t>
            </a:r>
            <a:r>
              <a:rPr b="1" lang="en-US" sz="22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che rappresentano diverse tipologie di studente universitario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1602138" y="7626700"/>
            <a:ext cx="1632900" cy="4095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11710738" y="7674250"/>
            <a:ext cx="1415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Organizzata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055150" y="7626700"/>
            <a:ext cx="1665600" cy="4095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176650" y="7674250"/>
            <a:ext cx="1544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Determinato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473701" y="7626700"/>
            <a:ext cx="1206900" cy="4095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645336" y="7674241"/>
            <a:ext cx="1073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Pratico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743149" y="7638629"/>
            <a:ext cx="1340100" cy="4095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1876338" y="7674250"/>
            <a:ext cx="1206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Empatica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952500" y="962025"/>
            <a:ext cx="39442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VALUTAZIONE EURISTICA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5006637" y="857250"/>
            <a:ext cx="2328863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15473363" y="962025"/>
            <a:ext cx="17864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Valutazione euristica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952500" y="2867025"/>
            <a:ext cx="552450" cy="5524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914400" y="2867025"/>
            <a:ext cx="6286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752600" y="2867025"/>
            <a:ext cx="603504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250"/>
              <a:buFont typeface="Schibsted Grotesk"/>
              <a:buNone/>
            </a:pPr>
            <a:r>
              <a:rPr b="1" i="0" lang="en-US" sz="22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Fase preliminare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752600" y="3295650"/>
            <a:ext cx="58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950"/>
              <a:buFont typeface="Schibsted Grotesk"/>
              <a:buNone/>
            </a:pP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descrizione o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ggetto di studio</a:t>
            </a: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- 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definizione profilo </a:t>
            </a: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utente - 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scelta dei principi euristici adottati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952500" y="4312741"/>
            <a:ext cx="552450" cy="5524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914400" y="4312741"/>
            <a:ext cx="6286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1752600" y="4312741"/>
            <a:ext cx="603504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250"/>
              <a:buFont typeface="Schibsted Grotesk"/>
              <a:buNone/>
            </a:pPr>
            <a:r>
              <a:rPr b="1" i="0" lang="en-US" sz="22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Esecuzione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752600" y="4741375"/>
            <a:ext cx="58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950"/>
              <a:buFont typeface="Schibsted Grotesk"/>
              <a:buNone/>
            </a:pP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tre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analisi </a:t>
            </a: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euristiche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individuali</a:t>
            </a:r>
            <a:endParaRPr sz="195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~ 1,5 settiman</a:t>
            </a: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in sessioni separate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952500" y="5758458"/>
            <a:ext cx="552450" cy="5524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914400" y="5758458"/>
            <a:ext cx="6286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1752600" y="5758458"/>
            <a:ext cx="6035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250"/>
              <a:buFont typeface="Schibsted Grotesk"/>
              <a:buNone/>
            </a:pPr>
            <a:r>
              <a:rPr b="1" i="0" lang="en-US" sz="22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Debriefing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752600" y="6187075"/>
            <a:ext cx="583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950"/>
              <a:buFont typeface="Schibsted Grotesk"/>
              <a:buNone/>
            </a:pP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unificazione problemi di usabilità + assegnazione gradi di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severità, </a:t>
            </a: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conteggio problemi per singolo valutatore + stima numero totale dei problemi - raggruppamento dei problemi in classi comuni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7905750" y="2867025"/>
            <a:ext cx="9429900" cy="5041800"/>
          </a:xfrm>
          <a:prstGeom prst="roundRect">
            <a:avLst>
              <a:gd fmla="val 440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8353425" y="3257550"/>
            <a:ext cx="9387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 10 PRINCIPI DI NIELSEN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8353425" y="3829050"/>
            <a:ext cx="400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8829675" y="3829050"/>
            <a:ext cx="339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Far vedere lo stato del sistema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2566200" y="3801850"/>
            <a:ext cx="425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3072200" y="3801850"/>
            <a:ext cx="394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Assicurare flessibilità ed efficienza d’uso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353425" y="4509407"/>
            <a:ext cx="400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8829675" y="4509400"/>
            <a:ext cx="339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Adeguare il sistema al mondo reale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2566200" y="4482206"/>
            <a:ext cx="425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13072200" y="4482200"/>
            <a:ext cx="394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Visualizzare tutte e sole le informazioni necessarie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8353425" y="5189764"/>
            <a:ext cx="400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8829675" y="5189775"/>
            <a:ext cx="339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Controllo dell’utente e libertà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12566200" y="5162561"/>
            <a:ext cx="425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3072198" y="5162572"/>
            <a:ext cx="3815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Prevenire gli errori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8353425" y="5666014"/>
            <a:ext cx="400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8829675" y="5666025"/>
            <a:ext cx="339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Assicurare consistenza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2566200" y="5638810"/>
            <a:ext cx="425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3072200" y="5638825"/>
            <a:ext cx="394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Permettere all’utente di correggere gli errori, non solo di rilevarli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8353425" y="6404370"/>
            <a:ext cx="400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8829675" y="6404380"/>
            <a:ext cx="3391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Riconoscimento piuttosto che uso della memoria dell’utente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2566200" y="6377163"/>
            <a:ext cx="425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3072198" y="6377163"/>
            <a:ext cx="3112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Help e documentazione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8383600" y="7206213"/>
            <a:ext cx="8534400" cy="1290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8383600" y="7398190"/>
            <a:ext cx="87903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Rielaborazione di P. Mussio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952500" y="962025"/>
            <a:ext cx="56887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PROBLEMI RAPPRESENTATIVI · 1 DI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5006637" y="857250"/>
            <a:ext cx="2328863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5473363" y="962025"/>
            <a:ext cx="17864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52500" y="1533525"/>
            <a:ext cx="18021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4800"/>
              <a:buFont typeface="Schibsted Grotesk"/>
              <a:buNone/>
            </a:pPr>
            <a:r>
              <a:rPr b="1" i="0" lang="en-US" sz="48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L'etichetta «StudyFlow AI»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952500" y="2714625"/>
            <a:ext cx="8785175" cy="6715125"/>
          </a:xfrm>
          <a:prstGeom prst="roundRect">
            <a:avLst>
              <a:gd fmla="val 2837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3664297" y="3552825"/>
            <a:ext cx="3361581" cy="4591050"/>
          </a:xfrm>
          <a:prstGeom prst="roundRect">
            <a:avLst>
              <a:gd fmla="val 3400" name="adj"/>
            </a:avLst>
          </a:prstGeom>
          <a:solidFill>
            <a:srgbClr val="FFFFFF"/>
          </a:solidFill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9"/>
          <p:cNvPicPr preferRelativeResize="0"/>
          <p:nvPr/>
        </p:nvPicPr>
        <p:blipFill rotWithShape="1">
          <a:blip r:embed="rId3">
            <a:alphaModFix/>
          </a:blip>
          <a:srcRect b="0" l="-74" r="-74" t="0"/>
          <a:stretch/>
        </p:blipFill>
        <p:spPr>
          <a:xfrm>
            <a:off x="3465850" y="3281788"/>
            <a:ext cx="3758475" cy="5133100"/>
          </a:xfrm>
          <a:prstGeom prst="rect">
            <a:avLst/>
          </a:prstGeom>
          <a:noFill/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0" name="Google Shape;260;p9"/>
          <p:cNvSpPr/>
          <p:nvPr/>
        </p:nvSpPr>
        <p:spPr>
          <a:xfrm>
            <a:off x="3285583" y="8659775"/>
            <a:ext cx="4119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</a:t>
            </a: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 sezione esami sotto «Strumenti AI»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0309175" y="3429000"/>
            <a:ext cx="77289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PERCHÉ È UN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0309175" y="3800475"/>
            <a:ext cx="7237114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100"/>
              <a:buFont typeface="Schibsted Grotesk"/>
              <a:buNone/>
            </a:pP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L’etichetta </a:t>
            </a:r>
            <a:r>
              <a:rPr b="1"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non comunica la sua reale funzione</a:t>
            </a: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: la gestione degli esami finisce così per essere </a:t>
            </a:r>
            <a:r>
              <a:rPr b="1"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nascosta e decontestualizzata</a:t>
            </a: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all'interno della categoria </a:t>
            </a: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«Strumenti AI»</a:t>
            </a: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, rendendola difficile da individuare a colpo d'occhio.</a:t>
            </a:r>
            <a:r>
              <a:rPr lang="en-US" sz="2100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</a:t>
            </a:r>
            <a:endParaRPr i="0" sz="3100" u="none" cap="none" strike="noStrike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0297075" y="5829300"/>
            <a:ext cx="5688900" cy="3529200"/>
          </a:xfrm>
          <a:prstGeom prst="roundRect">
            <a:avLst>
              <a:gd fmla="val 4241" name="adj"/>
            </a:avLst>
          </a:prstGeom>
          <a:solidFill>
            <a:srgbClr val="FFFF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10520988" y="5991791"/>
            <a:ext cx="7037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0520988" y="6420416"/>
            <a:ext cx="6589500" cy="1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025"/>
              <a:buFont typeface="Schibsted Grotesk"/>
              <a:buNone/>
            </a:pPr>
            <a:r>
              <a:rPr b="0" i="0" lang="en-US" sz="202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Rinominata </a:t>
            </a:r>
            <a:r>
              <a:rPr b="1" i="0" lang="en-US" sz="202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«Esami»</a:t>
            </a:r>
            <a:r>
              <a:rPr lang="en-US" sz="2025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. Sidebar ri</a:t>
            </a:r>
            <a:r>
              <a:rPr lang="en-US" sz="2025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organizzata</a:t>
            </a:r>
            <a:r>
              <a:rPr b="0" i="0" lang="en-US" sz="202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: </a:t>
            </a:r>
            <a:endParaRPr b="0" i="0" sz="2025" u="none" cap="none" strike="noStrike">
              <a:solidFill>
                <a:srgbClr val="2A314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025"/>
              <a:buFont typeface="Schibsted Grotesk"/>
              <a:buNone/>
            </a:pPr>
            <a:r>
              <a:rPr b="0" i="0" lang="en-US" sz="202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Dashboard · Appunti · </a:t>
            </a:r>
            <a:r>
              <a:rPr lang="en-US" sz="2025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Esami </a:t>
            </a:r>
            <a:r>
              <a:rPr b="0" i="0" lang="en-US" sz="202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· </a:t>
            </a:r>
            <a:r>
              <a:rPr lang="en-US" sz="2025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Community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0520988" y="7309387"/>
            <a:ext cx="1613100" cy="1828800"/>
          </a:xfrm>
          <a:prstGeom prst="roundRect">
            <a:avLst>
              <a:gd fmla="val 5905" name="adj"/>
            </a:avLst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9"/>
          <p:cNvPicPr preferRelativeResize="0"/>
          <p:nvPr/>
        </p:nvPicPr>
        <p:blipFill rotWithShape="1">
          <a:blip r:embed="rId4">
            <a:alphaModFix/>
          </a:blip>
          <a:srcRect b="0" l="-68" r="-68" t="0"/>
          <a:stretch/>
        </p:blipFill>
        <p:spPr>
          <a:xfrm>
            <a:off x="10521050" y="7309387"/>
            <a:ext cx="1612999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13658025" y="2824150"/>
            <a:ext cx="3005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PERCHÉ È UN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3658025" y="2709850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FDEEEF"/>
          </a:solidFill>
          <a:ln cap="flat" cmpd="sng" w="9525">
            <a:solidFill>
              <a:srgbClr val="F2C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3945428" y="2786050"/>
            <a:ext cx="25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2A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Severità </a:t>
            </a:r>
            <a:r>
              <a:rPr b="1" lang="en-US" sz="1800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· </a:t>
            </a:r>
            <a:r>
              <a:rPr b="1" lang="en-US" sz="1800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Accessorio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0309175" y="2714625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0872573" y="2786050"/>
            <a:ext cx="2016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№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· 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Consistenza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952500" y="962025"/>
            <a:ext cx="5737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PROBLEMI RAPPRESENTATIVI · 2 DI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5006637" y="857250"/>
            <a:ext cx="2328863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5473363" y="962025"/>
            <a:ext cx="17864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952500" y="1533525"/>
            <a:ext cx="18021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4800"/>
              <a:buFont typeface="Schibsted Grotesk"/>
              <a:buNone/>
            </a:pPr>
            <a:r>
              <a:rPr b="1" lang="en-US" sz="48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Accesso utente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952500" y="2714625"/>
            <a:ext cx="8785175" cy="6715125"/>
          </a:xfrm>
          <a:prstGeom prst="roundRect">
            <a:avLst>
              <a:gd fmla="val 2837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2392488" y="8198950"/>
            <a:ext cx="5905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Pagina di Login priva di un link di ritorno alla Homepage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0309175" y="3562425"/>
            <a:ext cx="772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PERCHÉ È UN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0309175" y="3933900"/>
            <a:ext cx="72372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100"/>
              <a:buFont typeface="Schibsted Grotesk"/>
              <a:buNone/>
            </a:pP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La mancanza di un elemento interattivo, come un logo cliccabile o un link di ritorno, </a:t>
            </a:r>
            <a:r>
              <a:rPr b="1"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blocca la navigazione</a:t>
            </a: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all'interno della schermata di autenticazione. </a:t>
            </a:r>
            <a:endParaRPr i="0" sz="3100" u="none" cap="none" strike="noStrike">
              <a:solidFill>
                <a:srgbClr val="2A314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0309175" y="5440550"/>
            <a:ext cx="5905200" cy="3261000"/>
          </a:xfrm>
          <a:prstGeom prst="roundRect">
            <a:avLst>
              <a:gd fmla="val 4656" name="adj"/>
            </a:avLst>
          </a:prstGeom>
          <a:solidFill>
            <a:srgbClr val="FFFF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0623500" y="5716786"/>
            <a:ext cx="7037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0623500" y="6145400"/>
            <a:ext cx="5362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025"/>
              <a:buFont typeface="Schibsted Grotesk"/>
              <a:buNone/>
            </a:pPr>
            <a:r>
              <a:rPr lang="en-US" sz="20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Inserimento di un link esplicito </a:t>
            </a:r>
            <a:r>
              <a:rPr b="1" lang="en-US" sz="20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«Torna alla Homepage»</a:t>
            </a:r>
            <a:r>
              <a:rPr lang="en-US" sz="20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nel footer del form di Login. </a:t>
            </a:r>
            <a:endParaRPr i="0" sz="2925" u="none" cap="none" strike="noStrike">
              <a:solidFill>
                <a:srgbClr val="2A314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0309175" y="2714625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3730075" y="2709850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FDEEEF"/>
          </a:solidFill>
          <a:ln cap="flat" cmpd="sng" w="9525">
            <a:solidFill>
              <a:srgbClr val="F2C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3950728" y="2786050"/>
            <a:ext cx="2702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2A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Severità </a:t>
            </a:r>
            <a:r>
              <a:rPr b="1" lang="en-US" sz="1800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· </a:t>
            </a:r>
            <a:r>
              <a:rPr b="1" lang="en-US" sz="1800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Secondario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0529825" y="2790825"/>
            <a:ext cx="2702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№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· 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Controllo e libertà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938" y="3696725"/>
            <a:ext cx="6070301" cy="43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3500" y="7259146"/>
            <a:ext cx="3516350" cy="12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952500" y="962025"/>
            <a:ext cx="57387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PROBLEMI RAPPRESENTATIVI · 3 DI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5006637" y="857250"/>
            <a:ext cx="2328863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15473363" y="962025"/>
            <a:ext cx="17864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952500" y="1533525"/>
            <a:ext cx="18021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4800"/>
              <a:buFont typeface="Schibsted Grotesk"/>
              <a:buNone/>
            </a:pPr>
            <a:r>
              <a:rPr b="1" lang="en-US" sz="48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Caricamento file audio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952500" y="2714625"/>
            <a:ext cx="8785175" cy="6715125"/>
          </a:xfrm>
          <a:prstGeom prst="roundRect">
            <a:avLst>
              <a:gd fmla="val 2837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2790587" y="8191450"/>
            <a:ext cx="5109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Caricamento di file audio senza istruzioni chiare</a:t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10309175" y="2714625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13653331" y="2709850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13926017" y="2790825"/>
            <a:ext cx="2598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№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</a:t>
            </a: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</a:t>
            </a: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· 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Correzione errori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0309175" y="3314700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FDEEEF"/>
          </a:solidFill>
          <a:ln cap="flat" cmpd="sng" w="9525">
            <a:solidFill>
              <a:srgbClr val="F2C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10639237" y="3390900"/>
            <a:ext cx="3533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2A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Severità 3 · </a:t>
            </a:r>
            <a:r>
              <a:rPr b="1" lang="en-US" sz="1800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</a:t>
            </a: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ilevante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0309175" y="4029075"/>
            <a:ext cx="772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PERCHÉ È UN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0309175" y="4400550"/>
            <a:ext cx="7237114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100"/>
              <a:buFont typeface="Schibsted Grotesk"/>
              <a:buNone/>
            </a:pP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Il sistema </a:t>
            </a:r>
            <a:r>
              <a:rPr b="1"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non indica preventivamente i formati audio supportati</a:t>
            </a: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e, in caso di file non valido, </a:t>
            </a:r>
            <a:r>
              <a:rPr b="1"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non fornisce alcun messaggio di errore</a:t>
            </a: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che spieghi il motivo del fallimento o come risolverlo. </a:t>
            </a:r>
            <a:endParaRPr i="0" sz="3100" u="none" cap="none" strike="noStrike">
              <a:solidFill>
                <a:srgbClr val="2A314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0251875" y="6368500"/>
            <a:ext cx="6712800" cy="3465000"/>
          </a:xfrm>
          <a:prstGeom prst="roundRect">
            <a:avLst>
              <a:gd fmla="val 8318" name="adj"/>
            </a:avLst>
          </a:prstGeom>
          <a:solidFill>
            <a:srgbClr val="FFFF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0566200" y="6644716"/>
            <a:ext cx="7037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0566200" y="7073341"/>
            <a:ext cx="6589500" cy="1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025"/>
              <a:buFont typeface="Schibsted Grotesk"/>
              <a:buNone/>
            </a:pPr>
            <a:r>
              <a:rPr lang="en-US" sz="20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Sostituzione del form con un'area di </a:t>
            </a:r>
            <a:r>
              <a:rPr b="1" lang="en-US" sz="20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drag-and-drop che indica preventivamente i vincoli</a:t>
            </a:r>
            <a:r>
              <a:rPr lang="en-US" sz="20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del file. </a:t>
            </a:r>
            <a:endParaRPr i="0" sz="2925" u="none" cap="none" strike="noStrike">
              <a:solidFill>
                <a:srgbClr val="2A314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pic>
        <p:nvPicPr>
          <p:cNvPr id="320" name="Google Shape;32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800" y="4075337"/>
            <a:ext cx="5924575" cy="39937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11"/>
          <p:cNvSpPr/>
          <p:nvPr/>
        </p:nvSpPr>
        <p:spPr>
          <a:xfrm>
            <a:off x="10581867" y="2790825"/>
            <a:ext cx="2598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№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· 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Stato del sistema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81875" y="8005225"/>
            <a:ext cx="1497825" cy="154882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3" name="Google Shape;323;p1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>
            <a:off x="952500" y="962025"/>
            <a:ext cx="57449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PROBLEMI RAPPRESENTATIVI · 4 DI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5006637" y="857250"/>
            <a:ext cx="2328863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15473363" y="962025"/>
            <a:ext cx="17864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952500" y="1533525"/>
            <a:ext cx="180213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4800"/>
              <a:buFont typeface="Schibsted Grotesk"/>
              <a:buNone/>
            </a:pPr>
            <a:r>
              <a:rPr b="1" i="0" lang="en-US" sz="48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Il calendario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952500" y="2714625"/>
            <a:ext cx="8785175" cy="6715125"/>
          </a:xfrm>
          <a:prstGeom prst="roundRect">
            <a:avLst>
              <a:gd fmla="val 2837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1754386" y="7858125"/>
            <a:ext cx="78993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</a:t>
            </a: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alendario </a:t>
            </a: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posizionato in </a:t>
            </a: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Study Flow</a:t>
            </a: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AI</a:t>
            </a: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completamente </a:t>
            </a: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inattivo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3658025" y="2824150"/>
            <a:ext cx="3005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PERCHÉ È UN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0309175" y="3800475"/>
            <a:ext cx="7237114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100"/>
              <a:buFont typeface="Schibsted Grotesk"/>
              <a:buNone/>
            </a:pP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Un elemento visivo che </a:t>
            </a:r>
            <a:r>
              <a:rPr b="1"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crea un'aspettativa di interazione ma risulta inutilizzabile</a:t>
            </a:r>
            <a:r>
              <a:rPr lang="en-US" sz="2100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, peraltro isolando le scadenze in un'unica pagina della piattaforma. </a:t>
            </a:r>
            <a:endParaRPr i="0" sz="2100" u="none" cap="none" strike="noStrike">
              <a:solidFill>
                <a:srgbClr val="2A314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0309175" y="5429916"/>
            <a:ext cx="7026300" cy="3682200"/>
          </a:xfrm>
          <a:prstGeom prst="roundRect">
            <a:avLst>
              <a:gd fmla="val 4656" name="adj"/>
            </a:avLst>
          </a:prstGeom>
          <a:solidFill>
            <a:srgbClr val="FFFF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10623500" y="5706141"/>
            <a:ext cx="7037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0623500" y="6134766"/>
            <a:ext cx="65895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2025"/>
              <a:buFont typeface="Schibsted Grotesk"/>
              <a:buNone/>
            </a:pPr>
            <a:r>
              <a:rPr b="0" i="0" lang="en-US" sz="202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Calendario reale </a:t>
            </a:r>
            <a:r>
              <a:rPr b="1" i="0" lang="en-US" sz="202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nella navbar </a:t>
            </a:r>
            <a:r>
              <a:rPr b="0" i="0" lang="en-US" sz="202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, accessibile ovunque, con le scadenze degli esami sincronizzate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0623500" y="7007197"/>
            <a:ext cx="1975500" cy="1828800"/>
          </a:xfrm>
          <a:prstGeom prst="roundRect">
            <a:avLst>
              <a:gd fmla="val 5208" name="adj"/>
            </a:avLst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2"/>
          <p:cNvPicPr preferRelativeResize="0"/>
          <p:nvPr/>
        </p:nvPicPr>
        <p:blipFill rotWithShape="1">
          <a:blip r:embed="rId3">
            <a:alphaModFix/>
          </a:blip>
          <a:srcRect b="-40" l="0" r="0" t="-40"/>
          <a:stretch/>
        </p:blipFill>
        <p:spPr>
          <a:xfrm>
            <a:off x="10623500" y="7007197"/>
            <a:ext cx="1975396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2"/>
          <p:cNvSpPr/>
          <p:nvPr/>
        </p:nvSpPr>
        <p:spPr>
          <a:xfrm>
            <a:off x="13658025" y="2709850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FDEEEF"/>
          </a:solidFill>
          <a:ln cap="flat" cmpd="sng" w="9525">
            <a:solidFill>
              <a:srgbClr val="F2C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13945428" y="2786050"/>
            <a:ext cx="25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2A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Severità </a:t>
            </a:r>
            <a:r>
              <a:rPr b="1" lang="en-US" sz="1800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· </a:t>
            </a:r>
            <a:r>
              <a:rPr b="1" lang="en-US" sz="1800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Catastrofe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10309175" y="2714625"/>
            <a:ext cx="3143700" cy="466800"/>
          </a:xfrm>
          <a:prstGeom prst="roundRect">
            <a:avLst>
              <a:gd fmla="val 50000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10872573" y="2786050"/>
            <a:ext cx="2016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№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r>
              <a:rPr b="1" i="0" lang="en-US" sz="180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· </a:t>
            </a:r>
            <a:r>
              <a:rPr b="1" lang="en-US" sz="180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Consistenza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10277775" y="3470788"/>
            <a:ext cx="772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PERCHÉ È UN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9" name="Google Shape;34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8513" y="4979374"/>
            <a:ext cx="8173152" cy="218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"/>
          <p:cNvSpPr/>
          <p:nvPr/>
        </p:nvSpPr>
        <p:spPr>
          <a:xfrm>
            <a:off x="952500" y="962025"/>
            <a:ext cx="39442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VALUTAZIONE EURISTICA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15006637" y="857250"/>
            <a:ext cx="2328863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15473363" y="962025"/>
            <a:ext cx="17864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</a:t>
            </a: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roblemi di usabilità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952500" y="2847963"/>
            <a:ext cx="18789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1250"/>
              <a:buFont typeface="Schibsted Grotesk"/>
              <a:buNone/>
            </a:pPr>
            <a:r>
              <a:rPr b="1" i="0" lang="en-US" sz="112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93</a:t>
            </a:r>
            <a:endParaRPr b="0" i="0" sz="1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1851000" y="4862588"/>
            <a:ext cx="5220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2250"/>
              <a:buFont typeface="Schibsted Grotesk"/>
              <a:buNone/>
            </a:pPr>
            <a:r>
              <a:rPr b="1" lang="en-US" sz="22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Classificazione </a:t>
            </a:r>
            <a:r>
              <a:rPr b="1" i="0" lang="en-US" sz="22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 grado di severità</a:t>
            </a:r>
            <a:endParaRPr b="0" i="0" sz="2250" u="none" cap="none" strike="noStrike">
              <a:solidFill>
                <a:srgbClr val="0F3F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952500" y="5486625"/>
            <a:ext cx="314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  </a:t>
            </a: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·  </a:t>
            </a: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Non è un problema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000500" y="5467575"/>
            <a:ext cx="4450200" cy="324000"/>
          </a:xfrm>
          <a:prstGeom prst="roundRect">
            <a:avLst>
              <a:gd fmla="val 23529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4000500" y="5467575"/>
            <a:ext cx="267000" cy="324000"/>
          </a:xfrm>
          <a:prstGeom prst="rect">
            <a:avLst/>
          </a:prstGeom>
          <a:solidFill>
            <a:srgbClr val="C4CB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8564910" y="5477100"/>
            <a:ext cx="7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952500" y="5981925"/>
            <a:ext cx="314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   ·  Accessorio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4000500" y="5962875"/>
            <a:ext cx="4450200" cy="324000"/>
          </a:xfrm>
          <a:prstGeom prst="roundRect">
            <a:avLst>
              <a:gd fmla="val 23529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4000500" y="5962875"/>
            <a:ext cx="3070500" cy="324000"/>
          </a:xfrm>
          <a:prstGeom prst="rect">
            <a:avLst/>
          </a:prstGeom>
          <a:solidFill>
            <a:srgbClr val="BF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8564910" y="5972400"/>
            <a:ext cx="7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952500" y="6477225"/>
            <a:ext cx="314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  ·  Secondario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4000500" y="6458175"/>
            <a:ext cx="4450200" cy="324000"/>
          </a:xfrm>
          <a:prstGeom prst="roundRect">
            <a:avLst>
              <a:gd fmla="val 23529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4000500" y="6458175"/>
            <a:ext cx="4450200" cy="3240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8564910" y="6467700"/>
            <a:ext cx="7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952500" y="6972525"/>
            <a:ext cx="314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  ·  Rilevante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4000500" y="6953475"/>
            <a:ext cx="4450200" cy="324000"/>
          </a:xfrm>
          <a:prstGeom prst="roundRect">
            <a:avLst>
              <a:gd fmla="val 23529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4000500" y="6953475"/>
            <a:ext cx="2403000" cy="324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8564910" y="6963000"/>
            <a:ext cx="7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952500" y="7467825"/>
            <a:ext cx="314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  ·  Catastrofe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4000500" y="7448775"/>
            <a:ext cx="4450200" cy="324000"/>
          </a:xfrm>
          <a:prstGeom prst="roundRect">
            <a:avLst>
              <a:gd fmla="val 23529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4000500" y="7448775"/>
            <a:ext cx="444900" cy="3240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8564910" y="7458300"/>
            <a:ext cx="7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10069850" y="2847975"/>
            <a:ext cx="7265700" cy="3572100"/>
          </a:xfrm>
          <a:prstGeom prst="roundRect">
            <a:avLst>
              <a:gd fmla="val 519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10498485" y="3238500"/>
            <a:ext cx="704922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CURVA DI NIELSEN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10498485" y="3771900"/>
            <a:ext cx="17253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4200"/>
              <a:buFont typeface="Schibsted Grotesk"/>
              <a:buNone/>
            </a:pPr>
            <a:r>
              <a:rPr b="1" i="0" lang="en-US" sz="42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67,2%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12223841" y="4050525"/>
            <a:ext cx="4607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950"/>
              <a:buFont typeface="Schibsted Grotesk"/>
              <a:buNone/>
            </a:pP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del totale di 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problemi</a:t>
            </a:r>
            <a:r>
              <a:rPr lang="en-US" sz="195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del sistema che ci si aspetta di individuare con 3 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valutatori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10498560" y="4862588"/>
            <a:ext cx="6408300" cy="362100"/>
          </a:xfrm>
          <a:prstGeom prst="roundRect">
            <a:avLst>
              <a:gd fmla="val 26316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10498560" y="4862588"/>
            <a:ext cx="4293600" cy="3621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7"/>
          <p:cNvSpPr/>
          <p:nvPr/>
        </p:nvSpPr>
        <p:spPr>
          <a:xfrm>
            <a:off x="10498560" y="5453138"/>
            <a:ext cx="704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93 trovati </a:t>
            </a:r>
            <a:r>
              <a:rPr b="0" i="0" lang="en-US" sz="1875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su ≈ </a:t>
            </a: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138 stimati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10498560" y="5815088"/>
            <a:ext cx="7049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stima calcolata in funzione del numero di valutatori coinvolti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10069860" y="6762750"/>
            <a:ext cx="7265640" cy="1943100"/>
          </a:xfrm>
          <a:prstGeom prst="roundRect">
            <a:avLst>
              <a:gd fmla="val 9804" name="adj"/>
            </a:avLst>
          </a:prstGeom>
          <a:solidFill>
            <a:srgbClr val="FFFFFF"/>
          </a:solidFill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10498485" y="7096125"/>
            <a:ext cx="704922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CONTRIBUTO DEI VALUTATORI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10498475" y="7591425"/>
            <a:ext cx="88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Schibsted Grotesk"/>
              <a:buNone/>
            </a:pPr>
            <a:r>
              <a:rPr b="1" lang="en-US" sz="30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52%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10498485" y="8096250"/>
            <a:ext cx="77747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11580775" y="7591425"/>
            <a:ext cx="88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Schibsted Grotesk"/>
              <a:buNone/>
            </a:pPr>
            <a:r>
              <a:rPr b="1" lang="en-US" sz="30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47%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11580763" y="8096250"/>
            <a:ext cx="70157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Legati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12587151" y="7591425"/>
            <a:ext cx="88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Schibsted Grotesk"/>
              <a:buNone/>
            </a:pPr>
            <a:r>
              <a:rPr b="1" lang="en-US" sz="30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12587139" y="8096250"/>
            <a:ext cx="7865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13678495" y="7661970"/>
            <a:ext cx="3325231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</a:t>
            </a:r>
            <a:r>
              <a:rPr b="0" i="0" lang="en-US" sz="180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 gran parte problemi diversi, con 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qualche</a:t>
            </a:r>
            <a:r>
              <a:rPr b="0" i="0" lang="en-US" sz="180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sovrapposizion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2831400" y="3747571"/>
            <a:ext cx="5561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2250"/>
              <a:buFont typeface="Schibsted Grotesk"/>
              <a:buNone/>
            </a:pPr>
            <a:r>
              <a:rPr b="1" i="0" lang="en-US" sz="22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problemi </a:t>
            </a:r>
            <a:r>
              <a:rPr b="1" lang="en-US" sz="2250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riscontrati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"/>
          <p:cNvSpPr/>
          <p:nvPr/>
        </p:nvSpPr>
        <p:spPr>
          <a:xfrm>
            <a:off x="952500" y="962025"/>
            <a:ext cx="39442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VALUTAZIONE EURISTICA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15006637" y="857250"/>
            <a:ext cx="2328863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8"/>
          <p:cNvSpPr/>
          <p:nvPr/>
        </p:nvSpPr>
        <p:spPr>
          <a:xfrm>
            <a:off x="15244763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15473363" y="962025"/>
            <a:ext cx="17864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Simone Rinaldi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Frequenza delle violazioni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182588" y="5667375"/>
            <a:ext cx="3519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952500" y="6019800"/>
            <a:ext cx="735955" cy="1876425"/>
          </a:xfrm>
          <a:prstGeom prst="roundRect">
            <a:avLst>
              <a:gd fmla="val 10354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2093863" y="5753100"/>
            <a:ext cx="3061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1840855" y="6105525"/>
            <a:ext cx="735955" cy="1790700"/>
          </a:xfrm>
          <a:prstGeom prst="roundRect">
            <a:avLst>
              <a:gd fmla="val 10354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2978348" y="6686550"/>
            <a:ext cx="3137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2729210" y="7038975"/>
            <a:ext cx="735955" cy="857250"/>
          </a:xfrm>
          <a:prstGeom prst="roundRect">
            <a:avLst>
              <a:gd fmla="val 10354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3830389" y="5038725"/>
            <a:ext cx="38635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3617565" y="5419725"/>
            <a:ext cx="735955" cy="2476500"/>
          </a:xfrm>
          <a:prstGeom prst="roundRect">
            <a:avLst>
              <a:gd fmla="val 10354" name="adj"/>
            </a:avLst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4734818" y="5410200"/>
            <a:ext cx="3543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4505920" y="5762625"/>
            <a:ext cx="735955" cy="2133600"/>
          </a:xfrm>
          <a:prstGeom prst="roundRect">
            <a:avLst>
              <a:gd fmla="val 10354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5644307" y="6343650"/>
            <a:ext cx="3120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5394275" y="6696075"/>
            <a:ext cx="735955" cy="1200150"/>
          </a:xfrm>
          <a:prstGeom prst="roundRect">
            <a:avLst>
              <a:gd fmla="val 10354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8"/>
          <p:cNvSpPr/>
          <p:nvPr/>
        </p:nvSpPr>
        <p:spPr>
          <a:xfrm>
            <a:off x="6512719" y="5667375"/>
            <a:ext cx="3519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6282630" y="6019800"/>
            <a:ext cx="735955" cy="1876425"/>
          </a:xfrm>
          <a:prstGeom prst="roundRect">
            <a:avLst>
              <a:gd fmla="val 10354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7420124" y="6686550"/>
            <a:ext cx="3137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7170986" y="7038975"/>
            <a:ext cx="735955" cy="857250"/>
          </a:xfrm>
          <a:prstGeom prst="roundRect">
            <a:avLst>
              <a:gd fmla="val 10354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8"/>
          <p:cNvSpPr/>
          <p:nvPr/>
        </p:nvSpPr>
        <p:spPr>
          <a:xfrm>
            <a:off x="8334821" y="6600825"/>
            <a:ext cx="2610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8059341" y="6953250"/>
            <a:ext cx="735955" cy="942975"/>
          </a:xfrm>
          <a:prstGeom prst="roundRect">
            <a:avLst>
              <a:gd fmla="val 10354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8"/>
          <p:cNvSpPr/>
          <p:nvPr/>
        </p:nvSpPr>
        <p:spPr>
          <a:xfrm>
            <a:off x="9269462" y="7448550"/>
            <a:ext cx="168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8947696" y="7800975"/>
            <a:ext cx="736104" cy="95250"/>
          </a:xfrm>
          <a:prstGeom prst="roundRect">
            <a:avLst>
              <a:gd fmla="val 50000" name="adj"/>
            </a:avLst>
          </a:prstGeom>
          <a:solidFill>
            <a:srgbClr val="C9D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8"/>
          <p:cNvSpPr/>
          <p:nvPr/>
        </p:nvSpPr>
        <p:spPr>
          <a:xfrm>
            <a:off x="952500" y="8143875"/>
            <a:ext cx="8731300" cy="1905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8"/>
          <p:cNvSpPr/>
          <p:nvPr/>
        </p:nvSpPr>
        <p:spPr>
          <a:xfrm>
            <a:off x="914400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1802755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2691110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3579465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4467820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5356175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6244530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7132886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8021241" y="8296275"/>
            <a:ext cx="8121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8909596" y="8296275"/>
            <a:ext cx="81230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952500" y="8820150"/>
            <a:ext cx="899323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Violazioni per principio di Nielsen </a:t>
            </a:r>
            <a:r>
              <a:rPr lang="en-US" sz="1950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—</a:t>
            </a: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</a:t>
            </a: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№4 Consistenza </a:t>
            </a: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è la criticità principale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10350550" y="2809875"/>
            <a:ext cx="6984950" cy="2400300"/>
          </a:xfrm>
          <a:prstGeom prst="roundRect">
            <a:avLst>
              <a:gd fmla="val 7937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8"/>
          <p:cNvSpPr/>
          <p:nvPr/>
        </p:nvSpPr>
        <p:spPr>
          <a:xfrm>
            <a:off x="10722025" y="3124200"/>
            <a:ext cx="6866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 CATEGORIA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10722025" y="3600450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Cognizione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12779425" y="3619500"/>
            <a:ext cx="298445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8"/>
          <p:cNvSpPr/>
          <p:nvPr/>
        </p:nvSpPr>
        <p:spPr>
          <a:xfrm>
            <a:off x="12779425" y="3619500"/>
            <a:ext cx="2984450" cy="2667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8"/>
          <p:cNvSpPr/>
          <p:nvPr/>
        </p:nvSpPr>
        <p:spPr>
          <a:xfrm>
            <a:off x="15840075" y="3609975"/>
            <a:ext cx="1123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54,6%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10722025" y="4095750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Percezione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12779425" y="4114800"/>
            <a:ext cx="298445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"/>
          <p:cNvSpPr/>
          <p:nvPr/>
        </p:nvSpPr>
        <p:spPr>
          <a:xfrm>
            <a:off x="12779425" y="4114800"/>
            <a:ext cx="1760786" cy="2667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8"/>
          <p:cNvSpPr/>
          <p:nvPr/>
        </p:nvSpPr>
        <p:spPr>
          <a:xfrm>
            <a:off x="15840075" y="4105275"/>
            <a:ext cx="1123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32,1%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10722025" y="4591050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Errori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12779425" y="4610100"/>
            <a:ext cx="298445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"/>
          <p:cNvSpPr/>
          <p:nvPr/>
        </p:nvSpPr>
        <p:spPr>
          <a:xfrm>
            <a:off x="12779425" y="4610100"/>
            <a:ext cx="716161" cy="266700"/>
          </a:xfrm>
          <a:prstGeom prst="rect">
            <a:avLst/>
          </a:prstGeom>
          <a:solidFill>
            <a:srgbClr val="C4CB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"/>
          <p:cNvSpPr/>
          <p:nvPr/>
        </p:nvSpPr>
        <p:spPr>
          <a:xfrm>
            <a:off x="15840075" y="4600575"/>
            <a:ext cx="1123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13,3%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10350550" y="5438775"/>
            <a:ext cx="6984950" cy="2400300"/>
          </a:xfrm>
          <a:prstGeom prst="roundRect">
            <a:avLst>
              <a:gd fmla="val 7937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8"/>
          <p:cNvSpPr/>
          <p:nvPr/>
        </p:nvSpPr>
        <p:spPr>
          <a:xfrm>
            <a:off x="10722025" y="5753100"/>
            <a:ext cx="6866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SEZIONI PIÙ CRITICHE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10722025" y="622935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 Miei Appunti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13160425" y="6248400"/>
            <a:ext cx="298445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13160425" y="6248400"/>
            <a:ext cx="2984450" cy="2667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8"/>
          <p:cNvSpPr/>
          <p:nvPr/>
        </p:nvSpPr>
        <p:spPr>
          <a:xfrm>
            <a:off x="16221075" y="6238875"/>
            <a:ext cx="74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10722025" y="672465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Esplora Appunti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13160425" y="6743700"/>
            <a:ext cx="298445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"/>
          <p:cNvSpPr/>
          <p:nvPr/>
        </p:nvSpPr>
        <p:spPr>
          <a:xfrm>
            <a:off x="13160425" y="6743700"/>
            <a:ext cx="1342876" cy="2667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8"/>
          <p:cNvSpPr/>
          <p:nvPr/>
        </p:nvSpPr>
        <p:spPr>
          <a:xfrm>
            <a:off x="16221075" y="6734175"/>
            <a:ext cx="74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10722025" y="721995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StudyFlow 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13160425" y="7239000"/>
            <a:ext cx="298445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8"/>
          <p:cNvSpPr/>
          <p:nvPr/>
        </p:nvSpPr>
        <p:spPr>
          <a:xfrm>
            <a:off x="13160425" y="7239000"/>
            <a:ext cx="1044476" cy="2667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8"/>
          <p:cNvSpPr/>
          <p:nvPr/>
        </p:nvSpPr>
        <p:spPr>
          <a:xfrm>
            <a:off x="16221075" y="7229475"/>
            <a:ext cx="74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10350575" y="8067675"/>
            <a:ext cx="6984900" cy="1163700"/>
          </a:xfrm>
          <a:prstGeom prst="roundRect">
            <a:avLst>
              <a:gd fmla="val 13095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10655350" y="8317982"/>
            <a:ext cx="342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11093500" y="8315325"/>
            <a:ext cx="61152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Difficoltà princip</a:t>
            </a:r>
            <a:r>
              <a:rPr b="1" lang="en-US" sz="19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ali di natura </a:t>
            </a: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cognitiv</a:t>
            </a:r>
            <a:r>
              <a:rPr b="1" lang="en-US" sz="19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</a:t>
            </a: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: </a:t>
            </a:r>
            <a:endParaRPr b="1" i="0" sz="1950" u="none" cap="none" strike="noStrike">
              <a:solidFill>
                <a:srgbClr val="0F3F8C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</a:t>
            </a:r>
            <a:r>
              <a:rPr b="1" lang="en-US" sz="19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apire</a:t>
            </a: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il sistema </a:t>
            </a:r>
            <a:r>
              <a:rPr b="1" lang="en-US" sz="195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richiede</a:t>
            </a: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uno sforzo eccessivo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"/>
          <p:cNvSpPr/>
          <p:nvPr/>
        </p:nvSpPr>
        <p:spPr>
          <a:xfrm>
            <a:off x="952500" y="962025"/>
            <a:ext cx="2965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Riprogettazione: l'approccio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952500" y="3743474"/>
            <a:ext cx="3667125" cy="2354312"/>
          </a:xfrm>
          <a:prstGeom prst="roundRect">
            <a:avLst>
              <a:gd fmla="val 7282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1247775" y="4057799"/>
            <a:ext cx="33842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1247775" y="4429274"/>
            <a:ext cx="33842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Scenari d'uso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1247775" y="4857899"/>
            <a:ext cx="3168872" cy="9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Situazioni concrete per isolare le criticità più impattanti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4581525" y="4720530"/>
            <a:ext cx="647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5191125" y="3897660"/>
            <a:ext cx="3667125" cy="2045791"/>
          </a:xfrm>
          <a:prstGeom prst="roundRect">
            <a:avLst>
              <a:gd fmla="val 8381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5486400" y="4211985"/>
            <a:ext cx="33842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5486400" y="4583460"/>
            <a:ext cx="33842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Pattern + Gestalt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5486400" y="5012085"/>
            <a:ext cx="3168872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Ogni scelta ancorata a un riferimento strutturato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8820150" y="4720530"/>
            <a:ext cx="647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9429750" y="3897660"/>
            <a:ext cx="3667125" cy="2045791"/>
          </a:xfrm>
          <a:prstGeom prst="roundRect">
            <a:avLst>
              <a:gd fmla="val 8381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9725025" y="4211985"/>
            <a:ext cx="33842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9725025" y="4583460"/>
            <a:ext cx="33842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Prototipi Figma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9725025" y="5012085"/>
            <a:ext cx="3168872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Struttura e collocazione fissate prima del codice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13058775" y="4720530"/>
            <a:ext cx="647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13668375" y="3897660"/>
            <a:ext cx="3667125" cy="2045791"/>
          </a:xfrm>
          <a:prstGeom prst="roundRect">
            <a:avLst>
              <a:gd fmla="val 8381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13963650" y="4211985"/>
            <a:ext cx="33842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13963650" y="4583460"/>
            <a:ext cx="33842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2175"/>
              <a:buFont typeface="Schibsted Grotesk"/>
              <a:buNone/>
            </a:pPr>
            <a:r>
              <a:rPr b="1" i="0" lang="en-US" sz="2175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Implementazione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13963650" y="5012085"/>
            <a:ext cx="3168872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5558C"/>
              </a:buClr>
              <a:buSzPts val="1800"/>
              <a:buFont typeface="Schibsted Grotesk"/>
              <a:buNone/>
            </a:pPr>
            <a:r>
              <a:rPr lang="en-US" sz="1700">
                <a:solidFill>
                  <a:srgbClr val="3555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Realizzazione del sistema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952500" y="6764536"/>
            <a:ext cx="8077200" cy="1255216"/>
          </a:xfrm>
          <a:prstGeom prst="roundRect">
            <a:avLst>
              <a:gd fmla="val 12141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1285875" y="7040761"/>
            <a:ext cx="2617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1661964" y="7050286"/>
            <a:ext cx="7245392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Tracciabilità: </a:t>
            </a: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 ogni modifica, il problema che risolve e il pattern che la fonda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9258300" y="6764536"/>
            <a:ext cx="8077200" cy="1255216"/>
          </a:xfrm>
          <a:prstGeom prst="roundRect">
            <a:avLst>
              <a:gd fmla="val 12141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9591675" y="7040761"/>
            <a:ext cx="2617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9967764" y="7050286"/>
            <a:ext cx="7245392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Riferimenti: </a:t>
            </a: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Tidwell, </a:t>
            </a:r>
            <a:r>
              <a:rPr b="0" i="1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Designing Interfaces </a:t>
            </a: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(3ª ed.) e leggi della Gestalt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"/>
          <p:cNvSpPr/>
          <p:nvPr/>
        </p:nvSpPr>
        <p:spPr>
          <a:xfrm>
            <a:off x="952500" y="962025"/>
            <a:ext cx="2965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Visual</a:t>
            </a: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</a:t>
            </a: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design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952500" y="2809875"/>
            <a:ext cx="924704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PALETTE · REGOLA 60-30-10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952500" y="3267075"/>
            <a:ext cx="8406408" cy="1066800"/>
          </a:xfrm>
          <a:prstGeom prst="roundRect">
            <a:avLst>
              <a:gd fmla="val 14286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962025" y="3276600"/>
            <a:ext cx="5032325" cy="104775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2237482" y="3648075"/>
            <a:ext cx="27293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60% · bianco e grigio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5994350" y="3276600"/>
            <a:ext cx="2516088" cy="104775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6424910" y="3648075"/>
            <a:ext cx="1820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30% · azzurro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8510439" y="3276600"/>
            <a:ext cx="838646" cy="104775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8685907" y="3648075"/>
            <a:ext cx="5637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10%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952500" y="4505325"/>
            <a:ext cx="92470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Sfondi e card · elementi interattivi · testo e icone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952500" y="5105400"/>
            <a:ext cx="924704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SFUMATURE AZZURRO · UNA PER STATO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952500" y="5562600"/>
            <a:ext cx="2675037" cy="1600200"/>
          </a:xfrm>
          <a:prstGeom prst="roundRect">
            <a:avLst>
              <a:gd fmla="val 9524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4"/>
          <p:cNvSpPr/>
          <p:nvPr/>
        </p:nvSpPr>
        <p:spPr>
          <a:xfrm>
            <a:off x="962025" y="5572125"/>
            <a:ext cx="2655987" cy="685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1152525" y="6410325"/>
            <a:ext cx="25024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#5AC8FA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1152525" y="6724650"/>
            <a:ext cx="25024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elaborazione, hover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3818037" y="5562600"/>
            <a:ext cx="2675186" cy="1600200"/>
          </a:xfrm>
          <a:prstGeom prst="roundRect">
            <a:avLst>
              <a:gd fmla="val 9524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4"/>
          <p:cNvSpPr/>
          <p:nvPr/>
        </p:nvSpPr>
        <p:spPr>
          <a:xfrm>
            <a:off x="3827562" y="5572125"/>
            <a:ext cx="2656136" cy="685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4"/>
          <p:cNvSpPr/>
          <p:nvPr/>
        </p:nvSpPr>
        <p:spPr>
          <a:xfrm>
            <a:off x="4018062" y="6410325"/>
            <a:ext cx="2502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#007AFF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4018062" y="6724650"/>
            <a:ext cx="2502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azioni primarie, link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6683722" y="5562600"/>
            <a:ext cx="2675186" cy="1600200"/>
          </a:xfrm>
          <a:prstGeom prst="roundRect">
            <a:avLst>
              <a:gd fmla="val 9524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6693247" y="5572125"/>
            <a:ext cx="2656136" cy="685800"/>
          </a:xfrm>
          <a:prstGeom prst="rect">
            <a:avLst/>
          </a:prstGeom>
          <a:solidFill>
            <a:srgbClr val="0040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6883747" y="6410325"/>
            <a:ext cx="2502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#0040DD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6883747" y="6724650"/>
            <a:ext cx="2502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pressione, selezione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952500" y="7486650"/>
            <a:ext cx="86586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Contrasti verificati con la luminanza percepita </a:t>
            </a:r>
            <a:r>
              <a:rPr b="1" i="0" lang="en-US" sz="1875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W3C </a:t>
            </a:r>
            <a:r>
              <a:rPr b="0" i="0" lang="en-US" sz="1875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·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10025658" y="2809875"/>
            <a:ext cx="80408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COMPONENTI COMUNI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10025658" y="3324225"/>
            <a:ext cx="3559671" cy="2415480"/>
          </a:xfrm>
          <a:prstGeom prst="roundRect">
            <a:avLst>
              <a:gd fmla="val 6309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10301883" y="3600450"/>
            <a:ext cx="3307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Stepper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10301883" y="4010025"/>
            <a:ext cx="3097438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Posizione e progresso in ogni wizard multi-step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13775829" y="3324225"/>
            <a:ext cx="3559671" cy="2415480"/>
          </a:xfrm>
          <a:prstGeom prst="roundRect">
            <a:avLst>
              <a:gd fmla="val 6309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4"/>
          <p:cNvSpPr/>
          <p:nvPr/>
        </p:nvSpPr>
        <p:spPr>
          <a:xfrm>
            <a:off x="14052054" y="3600450"/>
            <a:ext cx="3307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Dropzone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14052054" y="4010025"/>
            <a:ext cx="3097438" cy="9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Formati accettati e limiti dichiarati nell'area di trascinamento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10025658" y="5930205"/>
            <a:ext cx="3559671" cy="2107109"/>
          </a:xfrm>
          <a:prstGeom prst="roundRect">
            <a:avLst>
              <a:gd fmla="val 7233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4"/>
          <p:cNvSpPr/>
          <p:nvPr/>
        </p:nvSpPr>
        <p:spPr>
          <a:xfrm>
            <a:off x="10301883" y="6206430"/>
            <a:ext cx="3307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Empty state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10301883" y="6616005"/>
            <a:ext cx="3097438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Sezioni vuote che invitano all'azione con CTA chiare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13775829" y="5930205"/>
            <a:ext cx="3559671" cy="2107109"/>
          </a:xfrm>
          <a:prstGeom prst="roundRect">
            <a:avLst>
              <a:gd fmla="val 7233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>
            <a:off x="14052054" y="6206430"/>
            <a:ext cx="3307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Modale di conferma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14052054" y="6616005"/>
            <a:ext cx="3097438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Ogni azione distruttiva chiede conferma esplicita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5"/>
          <p:cNvSpPr/>
          <p:nvPr/>
        </p:nvSpPr>
        <p:spPr>
          <a:xfrm>
            <a:off x="952500" y="962025"/>
            <a:ext cx="2965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Sidebar e navbar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952500" y="2809875"/>
            <a:ext cx="43774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PRIMA · 6 VOCI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952500" y="3276600"/>
            <a:ext cx="3979515" cy="647700"/>
          </a:xfrm>
          <a:prstGeom prst="roundRect">
            <a:avLst>
              <a:gd fmla="val 17647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1200150" y="3448050"/>
            <a:ext cx="36036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MyAcademia 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/>
          <p:nvPr/>
        </p:nvSpPr>
        <p:spPr>
          <a:xfrm>
            <a:off x="952500" y="4057650"/>
            <a:ext cx="3979515" cy="647700"/>
          </a:xfrm>
          <a:prstGeom prst="roundRect">
            <a:avLst>
              <a:gd fmla="val 17647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1200150" y="4229100"/>
            <a:ext cx="36036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 Miei Appunti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/>
          <p:nvPr/>
        </p:nvSpPr>
        <p:spPr>
          <a:xfrm>
            <a:off x="952500" y="4838700"/>
            <a:ext cx="3979515" cy="647700"/>
          </a:xfrm>
          <a:prstGeom prst="roundRect">
            <a:avLst>
              <a:gd fmla="val 17647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1200150" y="5010150"/>
            <a:ext cx="36036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Sbobinatore 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952500" y="5619750"/>
            <a:ext cx="3979515" cy="647700"/>
          </a:xfrm>
          <a:prstGeom prst="roundRect">
            <a:avLst>
              <a:gd fmla="val 17647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1200150" y="5791200"/>
            <a:ext cx="36036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Audio Note 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952500" y="6400800"/>
            <a:ext cx="3979515" cy="647700"/>
          </a:xfrm>
          <a:prstGeom prst="roundRect">
            <a:avLst>
              <a:gd fmla="val 17647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1200150" y="6572250"/>
            <a:ext cx="36036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Esplora Appunti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952500" y="7181850"/>
            <a:ext cx="3979515" cy="647700"/>
          </a:xfrm>
          <a:prstGeom prst="roundRect">
            <a:avLst>
              <a:gd fmla="val 17647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1200150" y="7353300"/>
            <a:ext cx="36036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StudyFlow 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5027265" y="3000375"/>
            <a:ext cx="933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250"/>
              <a:buFont typeface="Schibsted Grotesk"/>
              <a:buNone/>
            </a:pPr>
            <a:r>
              <a:rPr b="0" i="0" lang="en-US" sz="22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5027265" y="3762375"/>
            <a:ext cx="933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250"/>
              <a:buFont typeface="Schibsted Grotesk"/>
              <a:buNone/>
            </a:pPr>
            <a:r>
              <a:rPr b="0" i="0" lang="en-US" sz="22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5027265" y="4524375"/>
            <a:ext cx="933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250"/>
              <a:buFont typeface="Schibsted Grotesk"/>
              <a:buNone/>
            </a:pPr>
            <a:r>
              <a:rPr b="0" i="0" lang="en-US" sz="22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↘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5027265" y="5286375"/>
            <a:ext cx="933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250"/>
              <a:buFont typeface="Schibsted Grotesk"/>
              <a:buNone/>
            </a:pPr>
            <a:r>
              <a:rPr b="0" i="0" lang="en-US" sz="22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5027265" y="6048375"/>
            <a:ext cx="933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250"/>
              <a:buFont typeface="Schibsted Grotesk"/>
              <a:buNone/>
            </a:pPr>
            <a:r>
              <a:rPr b="0" i="0" lang="en-US" sz="22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5027265" y="6810375"/>
            <a:ext cx="933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250"/>
              <a:buFont typeface="Schibsted Grotesk"/>
              <a:buNone/>
            </a:pPr>
            <a:r>
              <a:rPr b="0" i="0" lang="en-US" sz="22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6055965" y="2809875"/>
            <a:ext cx="43776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DOPO · 4 VOCI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6055965" y="3276600"/>
            <a:ext cx="3979664" cy="666750"/>
          </a:xfrm>
          <a:prstGeom prst="roundRect">
            <a:avLst>
              <a:gd fmla="val 17143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>
            <a:off x="6313140" y="3457575"/>
            <a:ext cx="358470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6055965" y="4076700"/>
            <a:ext cx="3979664" cy="1390650"/>
          </a:xfrm>
          <a:prstGeom prst="roundRect">
            <a:avLst>
              <a:gd fmla="val 8219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6313140" y="4619625"/>
            <a:ext cx="10391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Appunti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7937153" y="4557713"/>
            <a:ext cx="1841302" cy="428625"/>
          </a:xfrm>
          <a:prstGeom prst="roundRect">
            <a:avLst>
              <a:gd fmla="val 50000" name="adj"/>
            </a:avLst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"/>
          <p:cNvSpPr/>
          <p:nvPr/>
        </p:nvSpPr>
        <p:spPr>
          <a:xfrm>
            <a:off x="8108603" y="4633913"/>
            <a:ext cx="15746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+ AI integrata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6055965" y="5600700"/>
            <a:ext cx="3979664" cy="666750"/>
          </a:xfrm>
          <a:prstGeom prst="roundRect">
            <a:avLst>
              <a:gd fmla="val 17143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5"/>
          <p:cNvSpPr/>
          <p:nvPr/>
        </p:nvSpPr>
        <p:spPr>
          <a:xfrm>
            <a:off x="6313140" y="5781675"/>
            <a:ext cx="358470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Community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6055965" y="6400800"/>
            <a:ext cx="3979664" cy="666750"/>
          </a:xfrm>
          <a:prstGeom prst="roundRect">
            <a:avLst>
              <a:gd fmla="val 17143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6313140" y="6581775"/>
            <a:ext cx="358470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Esami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10607129" y="2809875"/>
            <a:ext cx="740120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 NELLA NAVBAR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10607129" y="3324225"/>
            <a:ext cx="6728371" cy="1270546"/>
          </a:xfrm>
          <a:prstGeom prst="roundRect">
            <a:avLst>
              <a:gd fmla="val 1199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10921454" y="3600450"/>
            <a:ext cx="67096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Notifiche funzionanti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10921454" y="4010025"/>
            <a:ext cx="6709693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Avvisi reali su scadenze e attività della community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10607129" y="4823371"/>
            <a:ext cx="6728371" cy="1270546"/>
          </a:xfrm>
          <a:prstGeom prst="roundRect">
            <a:avLst>
              <a:gd fmla="val 1199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10921454" y="5099596"/>
            <a:ext cx="67096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Calendario sempre a portata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10921454" y="5509171"/>
            <a:ext cx="6709693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Scadenze degli esami consultabili da qualsiasi sezione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10607129" y="6322516"/>
            <a:ext cx="6728371" cy="1163836"/>
          </a:xfrm>
          <a:prstGeom prst="roundRect">
            <a:avLst>
              <a:gd fmla="val 13095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10911929" y="6713934"/>
            <a:ext cx="342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11350079" y="6570166"/>
            <a:ext cx="5851039" cy="7066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Meno voci, nomi immediati: meno carico cognitivo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6"/>
          <p:cNvSpPr/>
          <p:nvPr/>
        </p:nvSpPr>
        <p:spPr>
          <a:xfrm>
            <a:off x="952500" y="962025"/>
            <a:ext cx="2965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6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Appunti: il nuovo spazio di lavoro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952500" y="2752725"/>
            <a:ext cx="16383000" cy="3962400"/>
          </a:xfrm>
          <a:prstGeom prst="roundRect">
            <a:avLst>
              <a:gd fmla="val 4808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1409700" y="3048000"/>
            <a:ext cx="15468600" cy="337185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1" name="Google Shape;621;p16"/>
          <p:cNvPicPr preferRelativeResize="0"/>
          <p:nvPr/>
        </p:nvPicPr>
        <p:blipFill rotWithShape="1">
          <a:blip r:embed="rId3">
            <a:alphaModFix/>
          </a:blip>
          <a:srcRect b="-222" l="0" r="0" t="-222"/>
          <a:stretch/>
        </p:blipFill>
        <p:spPr>
          <a:xfrm>
            <a:off x="1409700" y="3048000"/>
            <a:ext cx="154686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6"/>
          <p:cNvSpPr/>
          <p:nvPr/>
        </p:nvSpPr>
        <p:spPr>
          <a:xfrm>
            <a:off x="952500" y="7134225"/>
            <a:ext cx="3924300" cy="2857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/>
          <p:nvPr/>
        </p:nvSpPr>
        <p:spPr>
          <a:xfrm>
            <a:off x="952500" y="7334250"/>
            <a:ext cx="43167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Two-Panel Selector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952500" y="7734300"/>
            <a:ext cx="404202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Cartelle a sinistra, file a destra; «+ Nuovo» dentro la pagina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5105400" y="7134225"/>
            <a:ext cx="3924300" cy="2857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5105400" y="7334250"/>
            <a:ext cx="43167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Module Tabs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5105400" y="7734300"/>
            <a:ext cx="404202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Tab sempre visibili: I Miei Appunti · Salvati · Appunti condivisi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9258300" y="7134225"/>
            <a:ext cx="3924300" cy="2857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6"/>
          <p:cNvSpPr/>
          <p:nvPr/>
        </p:nvSpPr>
        <p:spPr>
          <a:xfrm>
            <a:off x="9258300" y="7334250"/>
            <a:ext cx="43167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Input Hints + Errori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9258300" y="7734300"/>
            <a:ext cx="404202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Formati e limiti espliciti; errori in italiano sotto il campo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13411200" y="7134225"/>
            <a:ext cx="3924300" cy="2857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6"/>
          <p:cNvSpPr/>
          <p:nvPr/>
        </p:nvSpPr>
        <p:spPr>
          <a:xfrm>
            <a:off x="13411200" y="7334250"/>
            <a:ext cx="43167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Clear Entry Points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13411200" y="7734300"/>
            <a:ext cx="404202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Pagine vuote con inviti: «Carica il primo file», «Sfoglia la community»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5" name="Google Shape;63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75" y="7096125"/>
            <a:ext cx="175450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7"/>
          <p:cNvSpPr/>
          <p:nvPr/>
        </p:nvSpPr>
        <p:spPr>
          <a:xfrm>
            <a:off x="952500" y="962025"/>
            <a:ext cx="2965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7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7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7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Strumenti AI integrati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952500" y="2752725"/>
            <a:ext cx="64960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Nascono già in Appunti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952500" y="3162300"/>
            <a:ext cx="608266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Creazione da «+ Nuovo»; file salvati, organizzabili e allegabili agli esami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952500" y="4114800"/>
            <a:ext cx="64960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Stato sempre visibile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952500" y="4581525"/>
            <a:ext cx="1214140" cy="428625"/>
          </a:xfrm>
          <a:prstGeom prst="roundRect">
            <a:avLst>
              <a:gd fmla="val 50000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7"/>
          <p:cNvSpPr/>
          <p:nvPr/>
        </p:nvSpPr>
        <p:spPr>
          <a:xfrm>
            <a:off x="1143000" y="4657725"/>
            <a:ext cx="9093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 coda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2280940" y="4581525"/>
            <a:ext cx="2111573" cy="428625"/>
          </a:xfrm>
          <a:prstGeom prst="roundRect">
            <a:avLst>
              <a:gd fmla="val 50000" name="adj"/>
            </a:avLst>
          </a:prstGeom>
          <a:solidFill>
            <a:srgbClr val="E3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7"/>
          <p:cNvSpPr/>
          <p:nvPr/>
        </p:nvSpPr>
        <p:spPr>
          <a:xfrm>
            <a:off x="2471440" y="4657725"/>
            <a:ext cx="18067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9E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A6C9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 elaborazione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4506813" y="4581525"/>
            <a:ext cx="1122164" cy="428625"/>
          </a:xfrm>
          <a:prstGeom prst="roundRect">
            <a:avLst>
              <a:gd fmla="val 50000" name="adj"/>
            </a:avLst>
          </a:prstGeom>
          <a:solidFill>
            <a:srgbClr val="E5F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7"/>
          <p:cNvSpPr/>
          <p:nvPr/>
        </p:nvSpPr>
        <p:spPr>
          <a:xfrm>
            <a:off x="4697313" y="4657725"/>
            <a:ext cx="8173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B3C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1E7B3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5743277" y="4581525"/>
            <a:ext cx="1078557" cy="428625"/>
          </a:xfrm>
          <a:prstGeom prst="roundRect">
            <a:avLst>
              <a:gd fmla="val 50000" name="adj"/>
            </a:avLst>
          </a:prstGeom>
          <a:solidFill>
            <a:srgbClr val="FDE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7"/>
          <p:cNvSpPr/>
          <p:nvPr/>
        </p:nvSpPr>
        <p:spPr>
          <a:xfrm>
            <a:off x="5933777" y="4657725"/>
            <a:ext cx="7737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2A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Errore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952500" y="5162550"/>
            <a:ext cx="608266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Etichette persistenti nella lista file: si continua a lavorare senza attese bloccanti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952500" y="6115050"/>
            <a:ext cx="64960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i="0" lang="en-US" sz="202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Segmenti con timestamp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952500" y="6524625"/>
            <a:ext cx="608266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Click sul segmento → il player si sincronizza; tab Trascrizione / Riassunto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7429500" y="4114800"/>
            <a:ext cx="9523200" cy="5315100"/>
          </a:xfrm>
          <a:prstGeom prst="roundRect">
            <a:avLst>
              <a:gd fmla="val 2853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8147596" y="3390900"/>
            <a:ext cx="8469809" cy="497205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2" name="Google Shape;662;p17"/>
          <p:cNvPicPr preferRelativeResize="0"/>
          <p:nvPr/>
        </p:nvPicPr>
        <p:blipFill rotWithShape="1">
          <a:blip r:embed="rId3">
            <a:alphaModFix/>
          </a:blip>
          <a:srcRect b="-80" l="0" r="0" t="-80"/>
          <a:stretch/>
        </p:blipFill>
        <p:spPr>
          <a:xfrm>
            <a:off x="8147599" y="4467225"/>
            <a:ext cx="6636298" cy="389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17"/>
          <p:cNvSpPr/>
          <p:nvPr/>
        </p:nvSpPr>
        <p:spPr>
          <a:xfrm>
            <a:off x="8717012" y="8515350"/>
            <a:ext cx="80639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Trascrizione riprogettata · segmenti, timestamp, player sincronizzato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4" name="Google Shape;66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9188" y="1995475"/>
            <a:ext cx="595312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238" y="179759"/>
            <a:ext cx="17679524" cy="9927476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7" name="Google Shape;66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3825" y="2605075"/>
            <a:ext cx="230505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8"/>
          <p:cNvSpPr/>
          <p:nvPr/>
        </p:nvSpPr>
        <p:spPr>
          <a:xfrm>
            <a:off x="952500" y="962025"/>
            <a:ext cx="2965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8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Esami: creazione in tre passi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952500" y="2752725"/>
            <a:ext cx="6705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PRIMA · FLUSSO FRAMMENTATO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952500" y="3162300"/>
            <a:ext cx="1244203" cy="819150"/>
          </a:xfrm>
          <a:prstGeom prst="roundRect">
            <a:avLst>
              <a:gd fmla="val 11628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8"/>
          <p:cNvSpPr/>
          <p:nvPr/>
        </p:nvSpPr>
        <p:spPr>
          <a:xfrm>
            <a:off x="1123950" y="3295650"/>
            <a:ext cx="97750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Crea esame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2311003" y="3433763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2653903" y="3162300"/>
            <a:ext cx="1955304" cy="819150"/>
          </a:xfrm>
          <a:prstGeom prst="roundRect">
            <a:avLst>
              <a:gd fmla="val 11628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8"/>
          <p:cNvSpPr/>
          <p:nvPr/>
        </p:nvSpPr>
        <p:spPr>
          <a:xfrm>
            <a:off x="2825353" y="3295650"/>
            <a:ext cx="1688604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Task in area separata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4723507" y="3433763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5066407" y="3162300"/>
            <a:ext cx="1982093" cy="819150"/>
          </a:xfrm>
          <a:prstGeom prst="roundRect">
            <a:avLst>
              <a:gd fmla="val 11628" name="adj"/>
            </a:avLst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5237857" y="3295650"/>
            <a:ext cx="171539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Materiali dal dettaglio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952500" y="4305300"/>
            <a:ext cx="6705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DOPO · UNA SOLA MODALE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952500" y="4714875"/>
            <a:ext cx="1111300" cy="561975"/>
          </a:xfrm>
          <a:prstGeom prst="roundRect">
            <a:avLst>
              <a:gd fmla="val 16949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8"/>
          <p:cNvSpPr/>
          <p:nvPr/>
        </p:nvSpPr>
        <p:spPr>
          <a:xfrm>
            <a:off x="1152525" y="4857750"/>
            <a:ext cx="787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 · Dati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2178100" y="4857750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2521000" y="4714875"/>
            <a:ext cx="1524595" cy="561975"/>
          </a:xfrm>
          <a:prstGeom prst="roundRect">
            <a:avLst>
              <a:gd fmla="val 16949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8"/>
          <p:cNvSpPr/>
          <p:nvPr/>
        </p:nvSpPr>
        <p:spPr>
          <a:xfrm>
            <a:off x="2721025" y="4857750"/>
            <a:ext cx="12007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 · Attività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4159895" y="4857750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4502795" y="4714875"/>
            <a:ext cx="1707803" cy="561975"/>
          </a:xfrm>
          <a:prstGeom prst="roundRect">
            <a:avLst>
              <a:gd fmla="val 16949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8"/>
          <p:cNvSpPr/>
          <p:nvPr/>
        </p:nvSpPr>
        <p:spPr>
          <a:xfrm>
            <a:off x="4702820" y="4857750"/>
            <a:ext cx="13839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 · Materiali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952500" y="5410200"/>
            <a:ext cx="627888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Esame completo configurato in un'unica operazione lineare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952500" y="6477000"/>
            <a:ext cx="6705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 INOLTRE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952500" y="6886575"/>
            <a:ext cx="2789783" cy="46672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8"/>
          <p:cNvSpPr/>
          <p:nvPr/>
        </p:nvSpPr>
        <p:spPr>
          <a:xfrm>
            <a:off x="1152525" y="6981825"/>
            <a:ext cx="24734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Validazione della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/>
          <p:nvPr/>
        </p:nvSpPr>
        <p:spPr>
          <a:xfrm>
            <a:off x="952500" y="7467600"/>
            <a:ext cx="3346698" cy="46672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8"/>
          <p:cNvSpPr/>
          <p:nvPr/>
        </p:nvSpPr>
        <p:spPr>
          <a:xfrm>
            <a:off x="1152525" y="7562850"/>
            <a:ext cx="30470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Eliminazione con conferma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8"/>
          <p:cNvSpPr/>
          <p:nvPr/>
        </p:nvSpPr>
        <p:spPr>
          <a:xfrm>
            <a:off x="4413498" y="7467600"/>
            <a:ext cx="2533204" cy="46672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8"/>
          <p:cNvSpPr/>
          <p:nvPr/>
        </p:nvSpPr>
        <p:spPr>
          <a:xfrm>
            <a:off x="4613523" y="7562850"/>
            <a:ext cx="22093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Filtri e ordinamento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8"/>
          <p:cNvSpPr/>
          <p:nvPr/>
        </p:nvSpPr>
        <p:spPr>
          <a:xfrm>
            <a:off x="952500" y="8048625"/>
            <a:ext cx="3085802" cy="46672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8"/>
          <p:cNvSpPr/>
          <p:nvPr/>
        </p:nvSpPr>
        <p:spPr>
          <a:xfrm>
            <a:off x="1152525" y="8143875"/>
            <a:ext cx="27783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Scadenze nel calendario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8"/>
          <p:cNvSpPr/>
          <p:nvPr/>
        </p:nvSpPr>
        <p:spPr>
          <a:xfrm>
            <a:off x="7620000" y="2752725"/>
            <a:ext cx="9715500" cy="6677100"/>
          </a:xfrm>
          <a:prstGeom prst="roundRect">
            <a:avLst>
              <a:gd fmla="val 2853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8"/>
          <p:cNvSpPr/>
          <p:nvPr/>
        </p:nvSpPr>
        <p:spPr>
          <a:xfrm>
            <a:off x="9232106" y="3390900"/>
            <a:ext cx="6491288" cy="497205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8" name="Google Shape;708;p18"/>
          <p:cNvPicPr preferRelativeResize="0"/>
          <p:nvPr/>
        </p:nvPicPr>
        <p:blipFill rotWithShape="1">
          <a:blip r:embed="rId3">
            <a:alphaModFix/>
          </a:blip>
          <a:srcRect b="-46" l="0" r="0" t="-46"/>
          <a:stretch/>
        </p:blipFill>
        <p:spPr>
          <a:xfrm>
            <a:off x="9232106" y="3390900"/>
            <a:ext cx="6491287" cy="4972051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8"/>
          <p:cNvSpPr/>
          <p:nvPr/>
        </p:nvSpPr>
        <p:spPr>
          <a:xfrm>
            <a:off x="8922841" y="8515350"/>
            <a:ext cx="7820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Wizard di creazione · step 3, collegamento dei materiali da Appunti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1" name="Google Shape;711;p18"/>
          <p:cNvPicPr preferRelativeResize="0"/>
          <p:nvPr/>
        </p:nvPicPr>
        <p:blipFill rotWithShape="1">
          <a:blip r:embed="rId4">
            <a:alphaModFix/>
          </a:blip>
          <a:srcRect b="0" l="0" r="4889" t="0"/>
          <a:stretch/>
        </p:blipFill>
        <p:spPr>
          <a:xfrm>
            <a:off x="0" y="44650"/>
            <a:ext cx="17546025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200" y="6648450"/>
            <a:ext cx="66865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18"/>
          <p:cNvPicPr preferRelativeResize="0"/>
          <p:nvPr/>
        </p:nvPicPr>
        <p:blipFill rotWithShape="1">
          <a:blip r:embed="rId4">
            <a:alphaModFix/>
          </a:blip>
          <a:srcRect b="1913" l="0" r="4889" t="0"/>
          <a:stretch/>
        </p:blipFill>
        <p:spPr>
          <a:xfrm>
            <a:off x="152400" y="197050"/>
            <a:ext cx="17546025" cy="100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18"/>
          <p:cNvPicPr preferRelativeResize="0"/>
          <p:nvPr/>
        </p:nvPicPr>
        <p:blipFill rotWithShape="1">
          <a:blip r:embed="rId6">
            <a:alphaModFix/>
          </a:blip>
          <a:srcRect b="5935" l="0" r="0" t="0"/>
          <a:stretch/>
        </p:blipFill>
        <p:spPr>
          <a:xfrm>
            <a:off x="1031225" y="7367600"/>
            <a:ext cx="6278874" cy="29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1225" y="6791325"/>
            <a:ext cx="68580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9"/>
          <p:cNvSpPr/>
          <p:nvPr/>
        </p:nvSpPr>
        <p:spPr>
          <a:xfrm>
            <a:off x="952500" y="962025"/>
            <a:ext cx="2965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9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9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9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9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Leggi della </a:t>
            </a: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Gestalt applicat</a:t>
            </a: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952500" y="2752725"/>
            <a:ext cx="9692580" cy="6677025"/>
          </a:xfrm>
          <a:prstGeom prst="roundRect">
            <a:avLst>
              <a:gd fmla="val 2853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9"/>
          <p:cNvSpPr/>
          <p:nvPr/>
        </p:nvSpPr>
        <p:spPr>
          <a:xfrm>
            <a:off x="1209675" y="3833961"/>
            <a:ext cx="9196983" cy="4514404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8" name="Google Shape;728;p19"/>
          <p:cNvPicPr preferRelativeResize="0"/>
          <p:nvPr/>
        </p:nvPicPr>
        <p:blipFill rotWithShape="1">
          <a:blip r:embed="rId3">
            <a:alphaModFix/>
          </a:blip>
          <a:srcRect b="-108" l="0" r="0" t="-108"/>
          <a:stretch/>
        </p:blipFill>
        <p:spPr>
          <a:xfrm>
            <a:off x="1200300" y="3620711"/>
            <a:ext cx="9196984" cy="4514403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19"/>
          <p:cNvSpPr/>
          <p:nvPr/>
        </p:nvSpPr>
        <p:spPr>
          <a:xfrm>
            <a:off x="1622673" y="4781848"/>
            <a:ext cx="495300" cy="495300"/>
          </a:xfrm>
          <a:prstGeom prst="ellipse">
            <a:avLst/>
          </a:prstGeom>
          <a:solidFill>
            <a:srgbClr val="007A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9"/>
          <p:cNvSpPr/>
          <p:nvPr/>
        </p:nvSpPr>
        <p:spPr>
          <a:xfrm>
            <a:off x="1613148" y="4810423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4330154" y="5052715"/>
            <a:ext cx="495300" cy="495300"/>
          </a:xfrm>
          <a:prstGeom prst="ellipse">
            <a:avLst/>
          </a:prstGeom>
          <a:solidFill>
            <a:srgbClr val="007A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9"/>
          <p:cNvSpPr/>
          <p:nvPr/>
        </p:nvSpPr>
        <p:spPr>
          <a:xfrm>
            <a:off x="4320629" y="5081290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9"/>
          <p:cNvSpPr/>
          <p:nvPr/>
        </p:nvSpPr>
        <p:spPr>
          <a:xfrm>
            <a:off x="5890468" y="6091089"/>
            <a:ext cx="495300" cy="495300"/>
          </a:xfrm>
          <a:prstGeom prst="ellipse">
            <a:avLst/>
          </a:prstGeom>
          <a:solidFill>
            <a:srgbClr val="007A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9"/>
          <p:cNvSpPr/>
          <p:nvPr/>
        </p:nvSpPr>
        <p:spPr>
          <a:xfrm>
            <a:off x="5880943" y="6119664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/>
          <p:nvPr/>
        </p:nvSpPr>
        <p:spPr>
          <a:xfrm>
            <a:off x="1358858" y="9119993"/>
            <a:ext cx="514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9"/>
          <p:cNvSpPr/>
          <p:nvPr/>
        </p:nvSpPr>
        <p:spPr>
          <a:xfrm>
            <a:off x="11216580" y="3620691"/>
            <a:ext cx="438150" cy="4381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9"/>
          <p:cNvSpPr/>
          <p:nvPr/>
        </p:nvSpPr>
        <p:spPr>
          <a:xfrm>
            <a:off x="11178480" y="3620691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9"/>
          <p:cNvSpPr/>
          <p:nvPr/>
        </p:nvSpPr>
        <p:spPr>
          <a:xfrm>
            <a:off x="11864280" y="3620691"/>
            <a:ext cx="60183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Prossimità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11864280" y="4001691"/>
            <a:ext cx="5635356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Voci di navigazione raggruppate; label adiacenti ai campi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11216580" y="4927402"/>
            <a:ext cx="438150" cy="4381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9"/>
          <p:cNvSpPr/>
          <p:nvPr/>
        </p:nvSpPr>
        <p:spPr>
          <a:xfrm>
            <a:off x="11178480" y="4927402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11864280" y="4927402"/>
            <a:ext cx="60183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Chiusura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11864280" y="5308402"/>
            <a:ext cx="5635356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Le card delimitano i blocchi: ciò che sta insieme, appare insieme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9"/>
          <p:cNvSpPr/>
          <p:nvPr/>
        </p:nvSpPr>
        <p:spPr>
          <a:xfrm>
            <a:off x="11216580" y="6234113"/>
            <a:ext cx="438150" cy="43815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9"/>
          <p:cNvSpPr/>
          <p:nvPr/>
        </p:nvSpPr>
        <p:spPr>
          <a:xfrm>
            <a:off x="11178480" y="6234113"/>
            <a:ext cx="51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9"/>
          <p:cNvSpPr/>
          <p:nvPr/>
        </p:nvSpPr>
        <p:spPr>
          <a:xfrm>
            <a:off x="11864280" y="6234113"/>
            <a:ext cx="60183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Similarità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11864280" y="6615113"/>
            <a:ext cx="5635356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Stessa forma e stesso azzurro per tutti gli elementi interattivi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0"/>
          <p:cNvSpPr/>
          <p:nvPr/>
        </p:nvSpPr>
        <p:spPr>
          <a:xfrm>
            <a:off x="952500" y="962025"/>
            <a:ext cx="29657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RIPROGETTAZIONE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0"/>
          <p:cNvSpPr/>
          <p:nvPr/>
        </p:nvSpPr>
        <p:spPr>
          <a:xfrm>
            <a:off x="1525785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0"/>
          <p:cNvSpPr/>
          <p:nvPr/>
        </p:nvSpPr>
        <p:spPr>
          <a:xfrm>
            <a:off x="15495984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0"/>
          <p:cNvSpPr/>
          <p:nvPr/>
        </p:nvSpPr>
        <p:spPr>
          <a:xfrm>
            <a:off x="15724584" y="962025"/>
            <a:ext cx="15100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0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Bilancio della riprogettazione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952500" y="4517827"/>
            <a:ext cx="31488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0500"/>
              <a:buFont typeface="Schibsted Grotesk"/>
              <a:buNone/>
            </a:pPr>
            <a:r>
              <a:rPr b="1" i="0" lang="en-US" sz="105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86%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4024461" y="5308402"/>
            <a:ext cx="262882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2250"/>
              <a:buFont typeface="Schibsted Grotesk"/>
              <a:buNone/>
            </a:pPr>
            <a:r>
              <a:rPr b="1" i="0" lang="en-US" sz="22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dei problemi risolti </a:t>
            </a:r>
            <a:r>
              <a:rPr b="0" i="0" lang="en-US" sz="225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80 su 93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0"/>
          <p:cNvSpPr/>
          <p:nvPr/>
        </p:nvSpPr>
        <p:spPr>
          <a:xfrm>
            <a:off x="952500" y="6337102"/>
            <a:ext cx="8182421" cy="419100"/>
          </a:xfrm>
          <a:prstGeom prst="roundRect">
            <a:avLst>
              <a:gd fmla="val 27273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0"/>
          <p:cNvSpPr/>
          <p:nvPr/>
        </p:nvSpPr>
        <p:spPr>
          <a:xfrm>
            <a:off x="952500" y="6337102"/>
            <a:ext cx="7036743" cy="4191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0"/>
          <p:cNvSpPr/>
          <p:nvPr/>
        </p:nvSpPr>
        <p:spPr>
          <a:xfrm>
            <a:off x="952500" y="7041952"/>
            <a:ext cx="8427894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13 rimandati consapevolmente: </a:t>
            </a:r>
            <a:r>
              <a:rPr b="1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11 di severità bassa </a:t>
            </a:r>
            <a:r>
              <a:rPr b="0" i="0" lang="en-US" sz="1950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, funzionalità accessorie — priorità ai flussi principali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0"/>
          <p:cNvSpPr/>
          <p:nvPr/>
        </p:nvSpPr>
        <p:spPr>
          <a:xfrm>
            <a:off x="9896921" y="4414838"/>
            <a:ext cx="81824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RISOLTI PER SEVERITÀ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9896921" y="4910138"/>
            <a:ext cx="2305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 · Accessori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12144821" y="4910138"/>
            <a:ext cx="3800029" cy="285750"/>
          </a:xfrm>
          <a:prstGeom prst="roundRect">
            <a:avLst>
              <a:gd fmla="val 26667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0"/>
          <p:cNvSpPr/>
          <p:nvPr/>
        </p:nvSpPr>
        <p:spPr>
          <a:xfrm>
            <a:off x="12144821" y="4910138"/>
            <a:ext cx="3518743" cy="28575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0"/>
          <p:cNvSpPr/>
          <p:nvPr/>
        </p:nvSpPr>
        <p:spPr>
          <a:xfrm>
            <a:off x="15973425" y="4910138"/>
            <a:ext cx="13620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25/27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9896921" y="5405438"/>
            <a:ext cx="2305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 · Secondari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12144821" y="5405438"/>
            <a:ext cx="3800029" cy="285750"/>
          </a:xfrm>
          <a:prstGeom prst="roundRect">
            <a:avLst>
              <a:gd fmla="val 26667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0"/>
          <p:cNvSpPr/>
          <p:nvPr/>
        </p:nvSpPr>
        <p:spPr>
          <a:xfrm>
            <a:off x="12144821" y="5405438"/>
            <a:ext cx="3020913" cy="28575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0"/>
          <p:cNvSpPr/>
          <p:nvPr/>
        </p:nvSpPr>
        <p:spPr>
          <a:xfrm>
            <a:off x="15973425" y="5405438"/>
            <a:ext cx="13620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31/39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9896921" y="5900738"/>
            <a:ext cx="2305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 · Rilevanti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12144821" y="5900738"/>
            <a:ext cx="3800029" cy="285750"/>
          </a:xfrm>
          <a:prstGeom prst="roundRect">
            <a:avLst>
              <a:gd fmla="val 26667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0"/>
          <p:cNvSpPr/>
          <p:nvPr/>
        </p:nvSpPr>
        <p:spPr>
          <a:xfrm>
            <a:off x="12144821" y="5900738"/>
            <a:ext cx="3617565" cy="28575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0"/>
          <p:cNvSpPr/>
          <p:nvPr/>
        </p:nvSpPr>
        <p:spPr>
          <a:xfrm>
            <a:off x="15973425" y="5900738"/>
            <a:ext cx="13620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20/21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9896921" y="6396038"/>
            <a:ext cx="2305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 · Catastrofi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12144821" y="6396038"/>
            <a:ext cx="3800029" cy="285750"/>
          </a:xfrm>
          <a:prstGeom prst="roundRect">
            <a:avLst>
              <a:gd fmla="val 26667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0"/>
          <p:cNvSpPr/>
          <p:nvPr/>
        </p:nvSpPr>
        <p:spPr>
          <a:xfrm>
            <a:off x="12144821" y="6396038"/>
            <a:ext cx="3800029" cy="285750"/>
          </a:xfrm>
          <a:prstGeom prst="rect">
            <a:avLst/>
          </a:prstGeom>
          <a:solidFill>
            <a:srgbClr val="0040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0"/>
          <p:cNvSpPr/>
          <p:nvPr/>
        </p:nvSpPr>
        <p:spPr>
          <a:xfrm>
            <a:off x="15973425" y="6396038"/>
            <a:ext cx="13620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40DD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40DD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4/4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0"/>
          <p:cNvSpPr/>
          <p:nvPr/>
        </p:nvSpPr>
        <p:spPr>
          <a:xfrm>
            <a:off x="9896921" y="6986588"/>
            <a:ext cx="7438579" cy="876300"/>
          </a:xfrm>
          <a:prstGeom prst="roundRect">
            <a:avLst>
              <a:gd fmla="val 17391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0"/>
          <p:cNvSpPr/>
          <p:nvPr/>
        </p:nvSpPr>
        <p:spPr>
          <a:xfrm>
            <a:off x="10201721" y="7234238"/>
            <a:ext cx="342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2100"/>
              <a:buFont typeface="Schibsted Grotesk"/>
              <a:buNone/>
            </a:pPr>
            <a:r>
              <a:rPr b="1" i="0" lang="en-US" sz="21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10639871" y="7257604"/>
            <a:ext cx="5965790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Tutte le catastrofi di usabilità eliminate: 100%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57d3d38ff_2_39"/>
          <p:cNvSpPr/>
          <p:nvPr/>
        </p:nvSpPr>
        <p:spPr>
          <a:xfrm>
            <a:off x="952500" y="962025"/>
            <a:ext cx="4220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ESPERIMENTO CON GLI UTENTI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g3f57d3d38ff_2_39"/>
          <p:cNvSpPr/>
          <p:nvPr/>
        </p:nvSpPr>
        <p:spPr>
          <a:xfrm>
            <a:off x="15146685" y="857250"/>
            <a:ext cx="2188800" cy="48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g3f57d3d38ff_2_39"/>
          <p:cNvSpPr/>
          <p:nvPr/>
        </p:nvSpPr>
        <p:spPr>
          <a:xfrm>
            <a:off x="15384810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3f57d3d38ff_2_39"/>
          <p:cNvSpPr/>
          <p:nvPr/>
        </p:nvSpPr>
        <p:spPr>
          <a:xfrm>
            <a:off x="15613410" y="962025"/>
            <a:ext cx="1632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g3f57d3d38ff_2_39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Pianificazione e progettazione dell’esperimento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3f57d3d38ff_2_3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6" name="Google Shape;796;g3f57d3d38ff_2_39"/>
          <p:cNvSpPr/>
          <p:nvPr/>
        </p:nvSpPr>
        <p:spPr>
          <a:xfrm>
            <a:off x="946275" y="3931263"/>
            <a:ext cx="3667200" cy="3115200"/>
          </a:xfrm>
          <a:prstGeom prst="roundRect">
            <a:avLst>
              <a:gd fmla="val 7282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f57d3d38ff_2_39"/>
          <p:cNvSpPr/>
          <p:nvPr/>
        </p:nvSpPr>
        <p:spPr>
          <a:xfrm>
            <a:off x="1241550" y="4245587"/>
            <a:ext cx="3384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3f57d3d38ff_2_39"/>
          <p:cNvSpPr/>
          <p:nvPr/>
        </p:nvSpPr>
        <p:spPr>
          <a:xfrm>
            <a:off x="1241550" y="4617062"/>
            <a:ext cx="3384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lang="en-US" sz="21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Definizione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g3f57d3d38ff_2_39"/>
          <p:cNvSpPr/>
          <p:nvPr/>
        </p:nvSpPr>
        <p:spPr>
          <a:xfrm>
            <a:off x="1241550" y="5045687"/>
            <a:ext cx="31689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Chiarire lo scopo dell'esperimento e stabilire gli obiettivi della valutazione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g3f57d3d38ff_2_39"/>
          <p:cNvSpPr/>
          <p:nvPr/>
        </p:nvSpPr>
        <p:spPr>
          <a:xfrm>
            <a:off x="4575300" y="4908318"/>
            <a:ext cx="647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g3f57d3d38ff_2_39"/>
          <p:cNvSpPr/>
          <p:nvPr/>
        </p:nvSpPr>
        <p:spPr>
          <a:xfrm>
            <a:off x="5184900" y="3931263"/>
            <a:ext cx="3667200" cy="3115200"/>
          </a:xfrm>
          <a:prstGeom prst="roundRect">
            <a:avLst>
              <a:gd fmla="val 8381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3f57d3d38ff_2_39"/>
          <p:cNvSpPr/>
          <p:nvPr/>
        </p:nvSpPr>
        <p:spPr>
          <a:xfrm>
            <a:off x="5480175" y="4399773"/>
            <a:ext cx="3384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g3f57d3d38ff_2_39"/>
          <p:cNvSpPr/>
          <p:nvPr/>
        </p:nvSpPr>
        <p:spPr>
          <a:xfrm>
            <a:off x="5480175" y="4771248"/>
            <a:ext cx="3384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lang="en-US" sz="21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Pianificazione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3f57d3d38ff_2_39"/>
          <p:cNvSpPr/>
          <p:nvPr/>
        </p:nvSpPr>
        <p:spPr>
          <a:xfrm>
            <a:off x="5480175" y="5199873"/>
            <a:ext cx="3168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Strutturare il protocollo definendo il campione di utenti, i compiti da svolgere e il modello di misura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g3f57d3d38ff_2_39"/>
          <p:cNvSpPr/>
          <p:nvPr/>
        </p:nvSpPr>
        <p:spPr>
          <a:xfrm>
            <a:off x="8813925" y="4908318"/>
            <a:ext cx="647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g3f57d3d38ff_2_39"/>
          <p:cNvSpPr/>
          <p:nvPr/>
        </p:nvSpPr>
        <p:spPr>
          <a:xfrm>
            <a:off x="9423525" y="3931263"/>
            <a:ext cx="3667200" cy="3115200"/>
          </a:xfrm>
          <a:prstGeom prst="roundRect">
            <a:avLst>
              <a:gd fmla="val 8381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g3f57d3d38ff_2_39"/>
          <p:cNvSpPr/>
          <p:nvPr/>
        </p:nvSpPr>
        <p:spPr>
          <a:xfrm>
            <a:off x="9718800" y="4399773"/>
            <a:ext cx="3384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f57d3d38ff_2_39"/>
          <p:cNvSpPr/>
          <p:nvPr/>
        </p:nvSpPr>
        <p:spPr>
          <a:xfrm>
            <a:off x="9718800" y="4771248"/>
            <a:ext cx="3384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lang="en-US" sz="21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Esecuzione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g3f57d3d38ff_2_39"/>
          <p:cNvSpPr/>
          <p:nvPr/>
        </p:nvSpPr>
        <p:spPr>
          <a:xfrm>
            <a:off x="9718800" y="5199873"/>
            <a:ext cx="3168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Condurre le sessioni per raccogliere i dati quantitativi e qualitativi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g3f57d3d38ff_2_39"/>
          <p:cNvSpPr/>
          <p:nvPr/>
        </p:nvSpPr>
        <p:spPr>
          <a:xfrm>
            <a:off x="13052550" y="4908318"/>
            <a:ext cx="647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g3f57d3d38ff_2_39"/>
          <p:cNvSpPr/>
          <p:nvPr/>
        </p:nvSpPr>
        <p:spPr>
          <a:xfrm>
            <a:off x="13662150" y="3931263"/>
            <a:ext cx="3667200" cy="3115200"/>
          </a:xfrm>
          <a:prstGeom prst="roundRect">
            <a:avLst>
              <a:gd fmla="val 8381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f57d3d38ff_2_39"/>
          <p:cNvSpPr/>
          <p:nvPr/>
        </p:nvSpPr>
        <p:spPr>
          <a:xfrm>
            <a:off x="13957425" y="4399773"/>
            <a:ext cx="3384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g3f57d3d38ff_2_39"/>
          <p:cNvSpPr/>
          <p:nvPr/>
        </p:nvSpPr>
        <p:spPr>
          <a:xfrm>
            <a:off x="13957425" y="4771248"/>
            <a:ext cx="3384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lang="en-US" sz="21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g3f57d3d38ff_2_39"/>
          <p:cNvSpPr/>
          <p:nvPr/>
        </p:nvSpPr>
        <p:spPr>
          <a:xfrm>
            <a:off x="13957425" y="5199873"/>
            <a:ext cx="3168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Sintetizzare le metriche raccolte applicando le analisi statistiche per confrontare e validare i risultati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g3f57d3d38ff_2_39"/>
          <p:cNvSpPr/>
          <p:nvPr/>
        </p:nvSpPr>
        <p:spPr>
          <a:xfrm>
            <a:off x="946279" y="3240538"/>
            <a:ext cx="7401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SUDDIVISIONE IN FASI</a:t>
            </a:r>
            <a:endParaRPr b="1" sz="2100">
              <a:solidFill>
                <a:srgbClr val="0F3F8C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f57d3d38ff_2_0"/>
          <p:cNvSpPr/>
          <p:nvPr/>
        </p:nvSpPr>
        <p:spPr>
          <a:xfrm>
            <a:off x="952500" y="962025"/>
            <a:ext cx="4828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ESPERIMENTO CON GLI UTENTI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3f57d3d38ff_2_0"/>
          <p:cNvSpPr/>
          <p:nvPr/>
        </p:nvSpPr>
        <p:spPr>
          <a:xfrm>
            <a:off x="15146685" y="857250"/>
            <a:ext cx="2188800" cy="48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f57d3d38ff_2_0"/>
          <p:cNvSpPr/>
          <p:nvPr/>
        </p:nvSpPr>
        <p:spPr>
          <a:xfrm>
            <a:off x="15384810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f57d3d38ff_2_0"/>
          <p:cNvSpPr/>
          <p:nvPr/>
        </p:nvSpPr>
        <p:spPr>
          <a:xfrm>
            <a:off x="15613410" y="962025"/>
            <a:ext cx="1632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g3f57d3d38ff_2_0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Definizione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g3f57d3d38ff_2_0"/>
          <p:cNvSpPr/>
          <p:nvPr/>
        </p:nvSpPr>
        <p:spPr>
          <a:xfrm>
            <a:off x="10350550" y="3373350"/>
            <a:ext cx="6984900" cy="2400300"/>
          </a:xfrm>
          <a:prstGeom prst="roundRect">
            <a:avLst>
              <a:gd fmla="val 7937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f57d3d38ff_2_0"/>
          <p:cNvSpPr/>
          <p:nvPr/>
        </p:nvSpPr>
        <p:spPr>
          <a:xfrm>
            <a:off x="10722025" y="3687675"/>
            <a:ext cx="686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PROBLEMI RACCOLTI </a:t>
            </a: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 CATEGORIA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g3f57d3d38ff_2_0"/>
          <p:cNvSpPr/>
          <p:nvPr/>
        </p:nvSpPr>
        <p:spPr>
          <a:xfrm>
            <a:off x="10722025" y="4163925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Cognizione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g3f57d3d38ff_2_0"/>
          <p:cNvSpPr/>
          <p:nvPr/>
        </p:nvSpPr>
        <p:spPr>
          <a:xfrm>
            <a:off x="12779425" y="4182975"/>
            <a:ext cx="29844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g3f57d3d38ff_2_0"/>
          <p:cNvSpPr/>
          <p:nvPr/>
        </p:nvSpPr>
        <p:spPr>
          <a:xfrm>
            <a:off x="12779425" y="4182975"/>
            <a:ext cx="2984400" cy="2667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g3f57d3d38ff_2_0"/>
          <p:cNvSpPr/>
          <p:nvPr/>
        </p:nvSpPr>
        <p:spPr>
          <a:xfrm>
            <a:off x="15867500" y="4173375"/>
            <a:ext cx="1124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54,6%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g3f57d3d38ff_2_0"/>
          <p:cNvSpPr/>
          <p:nvPr/>
        </p:nvSpPr>
        <p:spPr>
          <a:xfrm>
            <a:off x="10722025" y="4659225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Percezione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3f57d3d38ff_2_0"/>
          <p:cNvSpPr/>
          <p:nvPr/>
        </p:nvSpPr>
        <p:spPr>
          <a:xfrm>
            <a:off x="12779425" y="4678275"/>
            <a:ext cx="29844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f57d3d38ff_2_0"/>
          <p:cNvSpPr/>
          <p:nvPr/>
        </p:nvSpPr>
        <p:spPr>
          <a:xfrm>
            <a:off x="12779425" y="4678275"/>
            <a:ext cx="1760700" cy="2667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f57d3d38ff_2_0"/>
          <p:cNvSpPr/>
          <p:nvPr/>
        </p:nvSpPr>
        <p:spPr>
          <a:xfrm>
            <a:off x="15867500" y="4668675"/>
            <a:ext cx="1124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32,1%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g3f57d3d38ff_2_0"/>
          <p:cNvSpPr/>
          <p:nvPr/>
        </p:nvSpPr>
        <p:spPr>
          <a:xfrm>
            <a:off x="10722025" y="5154525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Errori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g3f57d3d38ff_2_0"/>
          <p:cNvSpPr/>
          <p:nvPr/>
        </p:nvSpPr>
        <p:spPr>
          <a:xfrm>
            <a:off x="12779425" y="5173575"/>
            <a:ext cx="29844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3f57d3d38ff_2_0"/>
          <p:cNvSpPr/>
          <p:nvPr/>
        </p:nvSpPr>
        <p:spPr>
          <a:xfrm>
            <a:off x="12779425" y="5173575"/>
            <a:ext cx="716100" cy="266700"/>
          </a:xfrm>
          <a:prstGeom prst="rect">
            <a:avLst/>
          </a:prstGeom>
          <a:solidFill>
            <a:srgbClr val="C4CB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f57d3d38ff_2_0"/>
          <p:cNvSpPr/>
          <p:nvPr/>
        </p:nvSpPr>
        <p:spPr>
          <a:xfrm>
            <a:off x="15867500" y="5163975"/>
            <a:ext cx="1124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13,3%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g3f57d3d38ff_2_0"/>
          <p:cNvSpPr/>
          <p:nvPr/>
        </p:nvSpPr>
        <p:spPr>
          <a:xfrm>
            <a:off x="10350550" y="6382550"/>
            <a:ext cx="6984900" cy="1419900"/>
          </a:xfrm>
          <a:prstGeom prst="roundRect">
            <a:avLst>
              <a:gd fmla="val 12121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f57d3d38ff_2_0"/>
          <p:cNvSpPr/>
          <p:nvPr/>
        </p:nvSpPr>
        <p:spPr>
          <a:xfrm>
            <a:off x="10625675" y="6549775"/>
            <a:ext cx="334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g3f57d3d38ff_2_0"/>
          <p:cNvSpPr/>
          <p:nvPr/>
        </p:nvSpPr>
        <p:spPr>
          <a:xfrm>
            <a:off x="10959875" y="6572250"/>
            <a:ext cx="59970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 che misura il nuovo design risolve le criticità emerse, riducendo oggettivamente il carico cognitivo rispetto alla versione originale?</a:t>
            </a:r>
            <a:endParaRPr b="0" i="1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g3f57d3d38ff_2_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g3f57d3d38ff_2_0"/>
          <p:cNvSpPr/>
          <p:nvPr/>
        </p:nvSpPr>
        <p:spPr>
          <a:xfrm>
            <a:off x="952504" y="3003100"/>
            <a:ext cx="7401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LO SCOPO</a:t>
            </a:r>
            <a:endParaRPr b="1" sz="2100">
              <a:solidFill>
                <a:srgbClr val="0F3F8C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45" name="Google Shape;845;g3f57d3d38ff_2_0"/>
          <p:cNvSpPr/>
          <p:nvPr/>
        </p:nvSpPr>
        <p:spPr>
          <a:xfrm>
            <a:off x="952500" y="3517450"/>
            <a:ext cx="7401300" cy="1270500"/>
          </a:xfrm>
          <a:prstGeom prst="roundRect">
            <a:avLst>
              <a:gd fmla="val 1199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g3f57d3d38ff_2_0"/>
          <p:cNvSpPr/>
          <p:nvPr/>
        </p:nvSpPr>
        <p:spPr>
          <a:xfrm>
            <a:off x="1266829" y="3793675"/>
            <a:ext cx="6709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Verificare l’efficacia delle scelte di riprogettazione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g3f57d3d38ff_2_0"/>
          <p:cNvSpPr/>
          <p:nvPr/>
        </p:nvSpPr>
        <p:spPr>
          <a:xfrm>
            <a:off x="1266829" y="4203250"/>
            <a:ext cx="6709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Interfaccia più intuitiva e meno macchinosa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3f57d3d38ff_2_0"/>
          <p:cNvSpPr/>
          <p:nvPr/>
        </p:nvSpPr>
        <p:spPr>
          <a:xfrm>
            <a:off x="952504" y="5425900"/>
            <a:ext cx="7401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IPOTESI NULLA (H0)</a:t>
            </a:r>
            <a:endParaRPr b="1" sz="2100">
              <a:solidFill>
                <a:srgbClr val="0F3F8C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49" name="Google Shape;849;g3f57d3d38ff_2_0"/>
          <p:cNvSpPr/>
          <p:nvPr/>
        </p:nvSpPr>
        <p:spPr>
          <a:xfrm>
            <a:off x="952500" y="5940250"/>
            <a:ext cx="7401300" cy="1899300"/>
          </a:xfrm>
          <a:prstGeom prst="roundRect">
            <a:avLst>
              <a:gd fmla="val 1199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g3f57d3d38ff_2_0"/>
          <p:cNvSpPr/>
          <p:nvPr/>
        </p:nvSpPr>
        <p:spPr>
          <a:xfrm>
            <a:off x="1266829" y="6216475"/>
            <a:ext cx="6709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rPr b="1" lang="en-US" sz="202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&lt;&lt; Le differenze tra A e B sono dovute al caso, non esiste pertanto rilevanza statistica &gt;&gt;</a:t>
            </a:r>
            <a:endParaRPr b="1" sz="2025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25"/>
              <a:buFont typeface="Schibsted Grotesk"/>
              <a:buNone/>
            </a:pPr>
            <a:r>
              <a:t/>
            </a:r>
            <a:endParaRPr b="1" sz="2025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51" name="Google Shape;851;g3f57d3d38ff_2_0"/>
          <p:cNvSpPr/>
          <p:nvPr/>
        </p:nvSpPr>
        <p:spPr>
          <a:xfrm>
            <a:off x="1266825" y="7161825"/>
            <a:ext cx="6709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L'obiettivo del test sarà confutarla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f3b1e9ffd3_1_0"/>
          <p:cNvSpPr/>
          <p:nvPr/>
        </p:nvSpPr>
        <p:spPr>
          <a:xfrm>
            <a:off x="952500" y="962025"/>
            <a:ext cx="4828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ESPERIMENTO CON GLI UTENTI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g3f3b1e9ffd3_1_0"/>
          <p:cNvSpPr/>
          <p:nvPr/>
        </p:nvSpPr>
        <p:spPr>
          <a:xfrm>
            <a:off x="15146685" y="857250"/>
            <a:ext cx="2188800" cy="48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g3f3b1e9ffd3_1_0"/>
          <p:cNvSpPr/>
          <p:nvPr/>
        </p:nvSpPr>
        <p:spPr>
          <a:xfrm>
            <a:off x="15384810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g3f3b1e9ffd3_1_0"/>
          <p:cNvSpPr/>
          <p:nvPr/>
        </p:nvSpPr>
        <p:spPr>
          <a:xfrm>
            <a:off x="15613410" y="962025"/>
            <a:ext cx="1632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g3f3b1e9ffd3_1_0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Pianificazione: scelta degli utenti</a:t>
            </a:r>
            <a:endParaRPr b="1" sz="5100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62" name="Google Shape;862;g3f3b1e9ffd3_1_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3" name="Google Shape;863;g3f3b1e9ffd3_1_0"/>
          <p:cNvSpPr/>
          <p:nvPr/>
        </p:nvSpPr>
        <p:spPr>
          <a:xfrm>
            <a:off x="952500" y="2847800"/>
            <a:ext cx="34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PARTECIPANTI</a:t>
            </a:r>
            <a:endParaRPr b="0" i="0" sz="1875" u="none" cap="none" strike="noStrike">
              <a:solidFill>
                <a:srgbClr val="0F3F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g3f3b1e9ffd3_1_0"/>
          <p:cNvSpPr/>
          <p:nvPr/>
        </p:nvSpPr>
        <p:spPr>
          <a:xfrm>
            <a:off x="952500" y="3472100"/>
            <a:ext cx="7355700" cy="2357100"/>
          </a:xfrm>
          <a:prstGeom prst="roundRect">
            <a:avLst>
              <a:gd fmla="val 10185" name="adj"/>
            </a:avLst>
          </a:prstGeom>
          <a:solidFill>
            <a:srgbClr val="FFFFFF"/>
          </a:solidFill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3f3b1e9ffd3_1_0"/>
          <p:cNvSpPr/>
          <p:nvPr/>
        </p:nvSpPr>
        <p:spPr>
          <a:xfrm>
            <a:off x="1332888" y="4730559"/>
            <a:ext cx="6771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Schibsted Grotesk"/>
              <a:buNone/>
            </a:pPr>
            <a:r>
              <a:rPr b="1" i="0" lang="en-US" sz="30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3f3b1e9ffd3_1_0"/>
          <p:cNvSpPr/>
          <p:nvPr/>
        </p:nvSpPr>
        <p:spPr>
          <a:xfrm>
            <a:off x="1332888" y="5128961"/>
            <a:ext cx="677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utenti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g3f3b1e9ffd3_1_0"/>
          <p:cNvSpPr/>
          <p:nvPr/>
        </p:nvSpPr>
        <p:spPr>
          <a:xfrm>
            <a:off x="2352956" y="4730559"/>
            <a:ext cx="10950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Schibsted Grotesk"/>
              <a:buNone/>
            </a:pPr>
            <a:r>
              <a:rPr b="1" i="0" lang="en-US" sz="30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19–25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3f3b1e9ffd3_1_0"/>
          <p:cNvSpPr/>
          <p:nvPr/>
        </p:nvSpPr>
        <p:spPr>
          <a:xfrm>
            <a:off x="2352956" y="5128961"/>
            <a:ext cx="1095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g3f3b1e9ffd3_1_0"/>
          <p:cNvSpPr/>
          <p:nvPr/>
        </p:nvSpPr>
        <p:spPr>
          <a:xfrm>
            <a:off x="3790786" y="4730566"/>
            <a:ext cx="10950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Schibsted Grotesk"/>
              <a:buNone/>
            </a:pPr>
            <a:r>
              <a:rPr b="1" i="0" lang="en-US" sz="30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g3f3b1e9ffd3_1_0"/>
          <p:cNvSpPr/>
          <p:nvPr/>
        </p:nvSpPr>
        <p:spPr>
          <a:xfrm>
            <a:off x="3790786" y="5128969"/>
            <a:ext cx="1095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diploma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g3f3b1e9ffd3_1_0"/>
          <p:cNvSpPr/>
          <p:nvPr/>
        </p:nvSpPr>
        <p:spPr>
          <a:xfrm>
            <a:off x="5228611" y="4718232"/>
            <a:ext cx="10950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Schibsted Grotesk"/>
              <a:buNone/>
            </a:pPr>
            <a:r>
              <a:rPr b="1" lang="en-US" sz="30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g3f3b1e9ffd3_1_0"/>
          <p:cNvSpPr/>
          <p:nvPr/>
        </p:nvSpPr>
        <p:spPr>
          <a:xfrm>
            <a:off x="5228611" y="5116635"/>
            <a:ext cx="1095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laurea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g3f3b1e9ffd3_1_0"/>
          <p:cNvSpPr/>
          <p:nvPr/>
        </p:nvSpPr>
        <p:spPr>
          <a:xfrm>
            <a:off x="1350836" y="3767525"/>
            <a:ext cx="66738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Campione rappresentativo del target di utilizzo, in accordo con le </a:t>
            </a:r>
            <a:r>
              <a:rPr b="1"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personas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74" name="Google Shape;874;g3f3b1e9ffd3_1_0"/>
          <p:cNvSpPr/>
          <p:nvPr/>
        </p:nvSpPr>
        <p:spPr>
          <a:xfrm>
            <a:off x="952500" y="6266775"/>
            <a:ext cx="5919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Within-subjects</a:t>
            </a:r>
            <a:r>
              <a:rPr lang="en-US" sz="2100">
                <a:solidFill>
                  <a:srgbClr val="0F3F8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Design</a:t>
            </a:r>
            <a:endParaRPr b="0" i="0" sz="1875" u="none" cap="none" strike="noStrike">
              <a:solidFill>
                <a:srgbClr val="0F3F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g3f3b1e9ffd3_1_0"/>
          <p:cNvSpPr/>
          <p:nvPr/>
        </p:nvSpPr>
        <p:spPr>
          <a:xfrm>
            <a:off x="952500" y="6891075"/>
            <a:ext cx="7355700" cy="2357100"/>
          </a:xfrm>
          <a:prstGeom prst="roundRect">
            <a:avLst>
              <a:gd fmla="val 10185" name="adj"/>
            </a:avLst>
          </a:prstGeom>
          <a:solidFill>
            <a:srgbClr val="FFFFFF"/>
          </a:solidFill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g3f3b1e9ffd3_1_0"/>
          <p:cNvSpPr/>
          <p:nvPr/>
        </p:nvSpPr>
        <p:spPr>
          <a:xfrm>
            <a:off x="1350836" y="7186500"/>
            <a:ext cx="66738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Controbilanciamento dell'ordine per limitare effetti di </a:t>
            </a:r>
            <a:r>
              <a:rPr b="1"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apprendimento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77" name="Google Shape;877;g3f3b1e9ffd3_1_0"/>
          <p:cNvSpPr/>
          <p:nvPr/>
        </p:nvSpPr>
        <p:spPr>
          <a:xfrm>
            <a:off x="5106467" y="8139325"/>
            <a:ext cx="2918100" cy="628800"/>
          </a:xfrm>
          <a:prstGeom prst="roundRect">
            <a:avLst>
              <a:gd fmla="val 21212" name="adj"/>
            </a:avLst>
          </a:prstGeom>
          <a:solidFill>
            <a:srgbClr val="E3F4FE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3f3b1e9ffd3_1_0"/>
          <p:cNvSpPr/>
          <p:nvPr/>
        </p:nvSpPr>
        <p:spPr>
          <a:xfrm>
            <a:off x="1350839" y="8139325"/>
            <a:ext cx="3999900" cy="628800"/>
          </a:xfrm>
          <a:prstGeom prst="roundRect">
            <a:avLst>
              <a:gd fmla="val 21212" name="adj"/>
            </a:avLst>
          </a:prstGeom>
          <a:solidFill>
            <a:srgbClr val="007AFF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g3f3b1e9ffd3_1_0"/>
          <p:cNvSpPr/>
          <p:nvPr/>
        </p:nvSpPr>
        <p:spPr>
          <a:xfrm>
            <a:off x="2010009" y="8282200"/>
            <a:ext cx="2599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 utenti · A →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f3b1e9ffd3_1_0"/>
          <p:cNvSpPr/>
          <p:nvPr/>
        </p:nvSpPr>
        <p:spPr>
          <a:xfrm>
            <a:off x="5754745" y="8282275"/>
            <a:ext cx="216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C2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 utent</a:t>
            </a:r>
            <a:r>
              <a:rPr b="1" lang="en-US" sz="1950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 </a:t>
            </a:r>
            <a:r>
              <a:rPr b="1" i="0" lang="en-US" sz="1950" u="none" cap="none" strike="noStrike">
                <a:solidFill>
                  <a:srgbClr val="0F4CC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· B →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g3f3b1e9ffd3_1_0"/>
          <p:cNvSpPr/>
          <p:nvPr/>
        </p:nvSpPr>
        <p:spPr>
          <a:xfrm>
            <a:off x="9659350" y="2847800"/>
            <a:ext cx="34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TEST PILOTA</a:t>
            </a:r>
            <a:endParaRPr b="0" i="0" sz="1875" u="none" cap="none" strike="noStrike">
              <a:solidFill>
                <a:srgbClr val="0F3F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g3f3b1e9ffd3_1_0"/>
          <p:cNvSpPr/>
          <p:nvPr/>
        </p:nvSpPr>
        <p:spPr>
          <a:xfrm>
            <a:off x="9659350" y="3472100"/>
            <a:ext cx="8107200" cy="1656900"/>
          </a:xfrm>
          <a:prstGeom prst="roundRect">
            <a:avLst>
              <a:gd fmla="val 10185" name="adj"/>
            </a:avLst>
          </a:prstGeom>
          <a:solidFill>
            <a:srgbClr val="FFFFFF"/>
          </a:solidFill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f3b1e9ffd3_1_0"/>
          <p:cNvSpPr/>
          <p:nvPr/>
        </p:nvSpPr>
        <p:spPr>
          <a:xfrm>
            <a:off x="10098375" y="3767525"/>
            <a:ext cx="73557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Char char="-"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Verifica della </a:t>
            </a:r>
            <a:r>
              <a:rPr b="1"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difficoltà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e dei </a:t>
            </a:r>
            <a:r>
              <a:rPr b="1"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tempi impiegati</a:t>
            </a:r>
            <a:endParaRPr b="1"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Char char="-"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Individuazione di </a:t>
            </a:r>
            <a:r>
              <a:rPr b="1"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ambiguità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e problemi pratici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Char char="-"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Affinamento delle </a:t>
            </a:r>
            <a:r>
              <a:rPr b="1"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istruzioni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prima dello studio principale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84" name="Google Shape;884;g3f3b1e9ffd3_1_0"/>
          <p:cNvSpPr/>
          <p:nvPr/>
        </p:nvSpPr>
        <p:spPr>
          <a:xfrm>
            <a:off x="9659350" y="5652350"/>
            <a:ext cx="34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VALIDITÀ</a:t>
            </a:r>
            <a:endParaRPr b="0" i="0" sz="1875" u="none" cap="none" strike="noStrike">
              <a:solidFill>
                <a:srgbClr val="0F3F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3f3b1e9ffd3_1_0"/>
          <p:cNvSpPr/>
          <p:nvPr/>
        </p:nvSpPr>
        <p:spPr>
          <a:xfrm>
            <a:off x="9659350" y="6276650"/>
            <a:ext cx="8107200" cy="2971500"/>
          </a:xfrm>
          <a:prstGeom prst="roundRect">
            <a:avLst>
              <a:gd fmla="val 10185" name="adj"/>
            </a:avLst>
          </a:prstGeom>
          <a:solidFill>
            <a:srgbClr val="FFFFFF"/>
          </a:solidFill>
          <a:ln cap="flat" cmpd="sng" w="9525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f3b1e9ffd3_1_0"/>
          <p:cNvSpPr/>
          <p:nvPr/>
        </p:nvSpPr>
        <p:spPr>
          <a:xfrm>
            <a:off x="10098375" y="7313620"/>
            <a:ext cx="49617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Esterna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g3f3b1e9ffd3_1_0"/>
          <p:cNvSpPr/>
          <p:nvPr/>
        </p:nvSpPr>
        <p:spPr>
          <a:xfrm>
            <a:off x="10098375" y="7627900"/>
            <a:ext cx="6324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Utenti realistici perché coerenti con le personas.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3f3b1e9ffd3_1_0"/>
          <p:cNvSpPr/>
          <p:nvPr/>
        </p:nvSpPr>
        <p:spPr>
          <a:xfrm>
            <a:off x="10098375" y="6499700"/>
            <a:ext cx="49617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Interna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f3b1e9ffd3_1_0"/>
          <p:cNvSpPr/>
          <p:nvPr/>
        </p:nvSpPr>
        <p:spPr>
          <a:xfrm>
            <a:off x="10098375" y="6814000"/>
            <a:ext cx="6324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Controllo della variabilità individuale grazie al within-subjects.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g3f3b1e9ffd3_1_0"/>
          <p:cNvSpPr/>
          <p:nvPr/>
        </p:nvSpPr>
        <p:spPr>
          <a:xfrm>
            <a:off x="10098375" y="8127550"/>
            <a:ext cx="6771300" cy="838200"/>
          </a:xfrm>
          <a:prstGeom prst="roundRect">
            <a:avLst>
              <a:gd fmla="val 12121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g3f3b1e9ffd3_1_0"/>
          <p:cNvSpPr/>
          <p:nvPr/>
        </p:nvSpPr>
        <p:spPr>
          <a:xfrm>
            <a:off x="11589604" y="8424250"/>
            <a:ext cx="324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3f3b1e9ffd3_1_0"/>
          <p:cNvSpPr/>
          <p:nvPr/>
        </p:nvSpPr>
        <p:spPr>
          <a:xfrm>
            <a:off x="11905800" y="8451200"/>
            <a:ext cx="38265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Controllo ↔ Generalizzabilità</a:t>
            </a:r>
            <a:endParaRPr b="1" sz="1875">
              <a:solidFill>
                <a:srgbClr val="0F3F8C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93" name="Google Shape;893;g3f3b1e9ffd3_1_0"/>
          <p:cNvSpPr/>
          <p:nvPr/>
        </p:nvSpPr>
        <p:spPr>
          <a:xfrm>
            <a:off x="10366350" y="8420425"/>
            <a:ext cx="13227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Trade-off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2"/>
          <p:cNvSpPr/>
          <p:nvPr/>
        </p:nvSpPr>
        <p:spPr>
          <a:xfrm>
            <a:off x="952500" y="962025"/>
            <a:ext cx="48283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ESPERIMENTO CON GLI UTENTI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2"/>
          <p:cNvSpPr/>
          <p:nvPr/>
        </p:nvSpPr>
        <p:spPr>
          <a:xfrm>
            <a:off x="15146685" y="857250"/>
            <a:ext cx="2188815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2"/>
          <p:cNvSpPr/>
          <p:nvPr/>
        </p:nvSpPr>
        <p:spPr>
          <a:xfrm>
            <a:off x="15384810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2"/>
          <p:cNvSpPr/>
          <p:nvPr/>
        </p:nvSpPr>
        <p:spPr>
          <a:xfrm>
            <a:off x="15613410" y="962025"/>
            <a:ext cx="1632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2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Pianificazione: compiti, scenari e misure</a:t>
            </a:r>
            <a:endParaRPr b="1" sz="5100">
              <a:solidFill>
                <a:srgbClr val="1C1C1E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904" name="Google Shape;904;p22"/>
          <p:cNvSpPr/>
          <p:nvPr/>
        </p:nvSpPr>
        <p:spPr>
          <a:xfrm>
            <a:off x="952500" y="2809875"/>
            <a:ext cx="89382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FASE 1 · SEI COMPITI GUIDATI</a:t>
            </a:r>
            <a:endParaRPr b="1" sz="2100">
              <a:solidFill>
                <a:srgbClr val="0F3F8C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905" name="Google Shape;905;p22"/>
          <p:cNvSpPr/>
          <p:nvPr/>
        </p:nvSpPr>
        <p:spPr>
          <a:xfrm>
            <a:off x="952500" y="3238500"/>
            <a:ext cx="533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2"/>
          <p:cNvSpPr/>
          <p:nvPr/>
        </p:nvSpPr>
        <p:spPr>
          <a:xfrm>
            <a:off x="1543050" y="3228975"/>
            <a:ext cx="163416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Registrazione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2"/>
          <p:cNvSpPr/>
          <p:nvPr/>
        </p:nvSpPr>
        <p:spPr>
          <a:xfrm>
            <a:off x="5148709" y="3238500"/>
            <a:ext cx="533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2"/>
          <p:cNvSpPr/>
          <p:nvPr/>
        </p:nvSpPr>
        <p:spPr>
          <a:xfrm>
            <a:off x="5739259" y="3228975"/>
            <a:ext cx="22164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Rinomina di un file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2"/>
          <p:cNvSpPr/>
          <p:nvPr/>
        </p:nvSpPr>
        <p:spPr>
          <a:xfrm>
            <a:off x="952500" y="3638550"/>
            <a:ext cx="533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2"/>
          <p:cNvSpPr/>
          <p:nvPr/>
        </p:nvSpPr>
        <p:spPr>
          <a:xfrm>
            <a:off x="1543050" y="3629025"/>
            <a:ext cx="33270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Caricamento in una cartella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2"/>
          <p:cNvSpPr/>
          <p:nvPr/>
        </p:nvSpPr>
        <p:spPr>
          <a:xfrm>
            <a:off x="5148709" y="3638550"/>
            <a:ext cx="533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2"/>
          <p:cNvSpPr/>
          <p:nvPr/>
        </p:nvSpPr>
        <p:spPr>
          <a:xfrm>
            <a:off x="5739259" y="3629025"/>
            <a:ext cx="345937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Salvataggio dalla community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2"/>
          <p:cNvSpPr/>
          <p:nvPr/>
        </p:nvSpPr>
        <p:spPr>
          <a:xfrm>
            <a:off x="952500" y="4038600"/>
            <a:ext cx="533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2"/>
          <p:cNvSpPr/>
          <p:nvPr/>
        </p:nvSpPr>
        <p:spPr>
          <a:xfrm>
            <a:off x="1543050" y="4029075"/>
            <a:ext cx="32120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Pianificazione di un esame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2"/>
          <p:cNvSpPr/>
          <p:nvPr/>
        </p:nvSpPr>
        <p:spPr>
          <a:xfrm>
            <a:off x="5148709" y="4038600"/>
            <a:ext cx="533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2"/>
          <p:cNvSpPr/>
          <p:nvPr/>
        </p:nvSpPr>
        <p:spPr>
          <a:xfrm>
            <a:off x="5739259" y="4029075"/>
            <a:ext cx="33619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1875"/>
              <a:buFont typeface="Schibsted Grotesk"/>
              <a:buNone/>
            </a:pPr>
            <a:r>
              <a:rPr b="0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Commento a un documento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2"/>
          <p:cNvSpPr/>
          <p:nvPr/>
        </p:nvSpPr>
        <p:spPr>
          <a:xfrm>
            <a:off x="952500" y="4991100"/>
            <a:ext cx="89382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FASE 2 · DUE SCENARI LIBERI</a:t>
            </a:r>
            <a:endParaRPr b="1" sz="2100">
              <a:solidFill>
                <a:srgbClr val="0F3F8C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918" name="Google Shape;918;p22"/>
          <p:cNvSpPr/>
          <p:nvPr/>
        </p:nvSpPr>
        <p:spPr>
          <a:xfrm>
            <a:off x="952500" y="5410200"/>
            <a:ext cx="8125718" cy="971550"/>
          </a:xfrm>
          <a:prstGeom prst="roundRect">
            <a:avLst>
              <a:gd fmla="val 1372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2"/>
          <p:cNvSpPr/>
          <p:nvPr/>
        </p:nvSpPr>
        <p:spPr>
          <a:xfrm>
            <a:off x="1209675" y="5610225"/>
            <a:ext cx="3359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2"/>
          <p:cNvSpPr/>
          <p:nvPr/>
        </p:nvSpPr>
        <p:spPr>
          <a:xfrm>
            <a:off x="1640830" y="5610225"/>
            <a:ext cx="739561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Il contributore attivo </a:t>
            </a:r>
            <a:r>
              <a:rPr b="0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— condivide appunti, crea un esame, collega materiale della community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2"/>
          <p:cNvSpPr/>
          <p:nvPr/>
        </p:nvSpPr>
        <p:spPr>
          <a:xfrm>
            <a:off x="952500" y="6496050"/>
            <a:ext cx="8125718" cy="971550"/>
          </a:xfrm>
          <a:prstGeom prst="roundRect">
            <a:avLst>
              <a:gd fmla="val 1372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2"/>
          <p:cNvSpPr/>
          <p:nvPr/>
        </p:nvSpPr>
        <p:spPr>
          <a:xfrm>
            <a:off x="1209675" y="669607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2"/>
          <p:cNvSpPr/>
          <p:nvPr/>
        </p:nvSpPr>
        <p:spPr>
          <a:xfrm>
            <a:off x="1685925" y="6696075"/>
            <a:ext cx="734917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140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L'organizzatore seriale </a:t>
            </a:r>
            <a:r>
              <a:rPr b="0" i="0" lang="en-US" sz="1875" u="none" cap="none" strike="noStrike">
                <a:solidFill>
                  <a:srgbClr val="2A314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— struttura cartelle, carica il syllabus, trascrive un audio con l'AI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2"/>
          <p:cNvSpPr/>
          <p:nvPr/>
        </p:nvSpPr>
        <p:spPr>
          <a:xfrm>
            <a:off x="9744968" y="2809875"/>
            <a:ext cx="7590532" cy="4710113"/>
          </a:xfrm>
          <a:prstGeom prst="roundRect">
            <a:avLst>
              <a:gd fmla="val 4044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2"/>
          <p:cNvSpPr/>
          <p:nvPr/>
        </p:nvSpPr>
        <p:spPr>
          <a:xfrm>
            <a:off x="10154543" y="3162300"/>
            <a:ext cx="74485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CHE COSA MISURIAMO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2"/>
          <p:cNvSpPr/>
          <p:nvPr/>
        </p:nvSpPr>
        <p:spPr>
          <a:xfrm>
            <a:off x="10154543" y="4114800"/>
            <a:ext cx="6771382" cy="9525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2"/>
          <p:cNvSpPr/>
          <p:nvPr/>
        </p:nvSpPr>
        <p:spPr>
          <a:xfrm>
            <a:off x="10154543" y="3676650"/>
            <a:ext cx="1717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Success 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2"/>
          <p:cNvSpPr/>
          <p:nvPr/>
        </p:nvSpPr>
        <p:spPr>
          <a:xfrm>
            <a:off x="16028491" y="3695700"/>
            <a:ext cx="9736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efficacia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2"/>
          <p:cNvSpPr/>
          <p:nvPr/>
        </p:nvSpPr>
        <p:spPr>
          <a:xfrm>
            <a:off x="10154543" y="4733925"/>
            <a:ext cx="6771382" cy="9525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2"/>
          <p:cNvSpPr/>
          <p:nvPr/>
        </p:nvSpPr>
        <p:spPr>
          <a:xfrm>
            <a:off x="10154543" y="4295775"/>
            <a:ext cx="264933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Errori · tempo · click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2"/>
          <p:cNvSpPr/>
          <p:nvPr/>
        </p:nvSpPr>
        <p:spPr>
          <a:xfrm>
            <a:off x="14511832" y="4271925"/>
            <a:ext cx="2414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media, p &lt; 0,05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2"/>
          <p:cNvSpPr/>
          <p:nvPr/>
        </p:nvSpPr>
        <p:spPr>
          <a:xfrm>
            <a:off x="10154543" y="5353050"/>
            <a:ext cx="6771382" cy="9525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2"/>
          <p:cNvSpPr/>
          <p:nvPr/>
        </p:nvSpPr>
        <p:spPr>
          <a:xfrm>
            <a:off x="10154543" y="4914900"/>
            <a:ext cx="25718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Difficoltà percepita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2"/>
          <p:cNvSpPr/>
          <p:nvPr/>
        </p:nvSpPr>
        <p:spPr>
          <a:xfrm>
            <a:off x="14878348" y="4933950"/>
            <a:ext cx="22523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mediana · Likert 1–5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2"/>
          <p:cNvSpPr/>
          <p:nvPr/>
        </p:nvSpPr>
        <p:spPr>
          <a:xfrm>
            <a:off x="10154543" y="5534025"/>
            <a:ext cx="19694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Thinking aloud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2"/>
          <p:cNvSpPr/>
          <p:nvPr/>
        </p:nvSpPr>
        <p:spPr>
          <a:xfrm>
            <a:off x="14436179" y="5553075"/>
            <a:ext cx="27387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osservazioni qualitative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2"/>
          <p:cNvSpPr/>
          <p:nvPr/>
        </p:nvSpPr>
        <p:spPr>
          <a:xfrm>
            <a:off x="10154543" y="6067425"/>
            <a:ext cx="6771382" cy="1100138"/>
          </a:xfrm>
          <a:prstGeom prst="roundRect">
            <a:avLst>
              <a:gd fmla="val 12121" name="adj"/>
            </a:avLst>
          </a:prstGeom>
          <a:solidFill>
            <a:srgbClr val="EA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2"/>
          <p:cNvSpPr/>
          <p:nvPr/>
        </p:nvSpPr>
        <p:spPr>
          <a:xfrm>
            <a:off x="10421243" y="6441281"/>
            <a:ext cx="3238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2"/>
          <p:cNvSpPr/>
          <p:nvPr/>
        </p:nvSpPr>
        <p:spPr>
          <a:xfrm>
            <a:off x="10872213" y="6429375"/>
            <a:ext cx="6013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Priorità agli errori più che al tempo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3"/>
          <p:cNvSpPr/>
          <p:nvPr/>
        </p:nvSpPr>
        <p:spPr>
          <a:xfrm>
            <a:off x="952500" y="962025"/>
            <a:ext cx="4220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ESPERIMENTO CON GLI UTENTI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3"/>
          <p:cNvSpPr/>
          <p:nvPr/>
        </p:nvSpPr>
        <p:spPr>
          <a:xfrm>
            <a:off x="15146685" y="857250"/>
            <a:ext cx="2188815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3"/>
          <p:cNvSpPr/>
          <p:nvPr/>
        </p:nvSpPr>
        <p:spPr>
          <a:xfrm>
            <a:off x="15384810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3"/>
          <p:cNvSpPr/>
          <p:nvPr/>
        </p:nvSpPr>
        <p:spPr>
          <a:xfrm>
            <a:off x="15613410" y="962025"/>
            <a:ext cx="1632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3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Esecuzione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3"/>
          <p:cNvSpPr/>
          <p:nvPr/>
        </p:nvSpPr>
        <p:spPr>
          <a:xfrm>
            <a:off x="964800" y="3625061"/>
            <a:ext cx="3667200" cy="2389800"/>
          </a:xfrm>
          <a:prstGeom prst="roundRect">
            <a:avLst>
              <a:gd fmla="val 7282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3"/>
          <p:cNvSpPr/>
          <p:nvPr/>
        </p:nvSpPr>
        <p:spPr>
          <a:xfrm>
            <a:off x="1260075" y="3762399"/>
            <a:ext cx="3384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3"/>
          <p:cNvSpPr/>
          <p:nvPr/>
        </p:nvSpPr>
        <p:spPr>
          <a:xfrm>
            <a:off x="1260075" y="4133874"/>
            <a:ext cx="3384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lang="en-US" sz="21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Preparazione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3"/>
          <p:cNvSpPr/>
          <p:nvPr/>
        </p:nvSpPr>
        <p:spPr>
          <a:xfrm>
            <a:off x="1260075" y="4562499"/>
            <a:ext cx="31689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Ambiente e materiale pronti, tool di tracciamento attivi e versione iniziale.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3"/>
          <p:cNvSpPr/>
          <p:nvPr/>
        </p:nvSpPr>
        <p:spPr>
          <a:xfrm>
            <a:off x="4593825" y="4425130"/>
            <a:ext cx="647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3"/>
          <p:cNvSpPr/>
          <p:nvPr/>
        </p:nvSpPr>
        <p:spPr>
          <a:xfrm>
            <a:off x="5203425" y="3602248"/>
            <a:ext cx="3667200" cy="2435100"/>
          </a:xfrm>
          <a:prstGeom prst="roundRect">
            <a:avLst>
              <a:gd fmla="val 8381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3"/>
          <p:cNvSpPr/>
          <p:nvPr/>
        </p:nvSpPr>
        <p:spPr>
          <a:xfrm>
            <a:off x="5498700" y="3916585"/>
            <a:ext cx="3384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3"/>
          <p:cNvSpPr/>
          <p:nvPr/>
        </p:nvSpPr>
        <p:spPr>
          <a:xfrm>
            <a:off x="5498700" y="4288060"/>
            <a:ext cx="3384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lang="en-US" sz="21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Introduzione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3"/>
          <p:cNvSpPr/>
          <p:nvPr/>
        </p:nvSpPr>
        <p:spPr>
          <a:xfrm>
            <a:off x="5498700" y="4716685"/>
            <a:ext cx="3168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Accoglienza utente, questionario anagrafica e consenso informativo.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3"/>
          <p:cNvSpPr/>
          <p:nvPr/>
        </p:nvSpPr>
        <p:spPr>
          <a:xfrm>
            <a:off x="8832450" y="4425130"/>
            <a:ext cx="647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3"/>
          <p:cNvSpPr/>
          <p:nvPr/>
        </p:nvSpPr>
        <p:spPr>
          <a:xfrm>
            <a:off x="13643550" y="3602248"/>
            <a:ext cx="3667200" cy="2435100"/>
          </a:xfrm>
          <a:prstGeom prst="roundRect">
            <a:avLst>
              <a:gd fmla="val 8381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3"/>
          <p:cNvSpPr/>
          <p:nvPr/>
        </p:nvSpPr>
        <p:spPr>
          <a:xfrm>
            <a:off x="13938825" y="3916585"/>
            <a:ext cx="3384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</a:t>
            </a:r>
            <a:r>
              <a:rPr b="1" lang="en-US" sz="18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3"/>
          <p:cNvSpPr/>
          <p:nvPr/>
        </p:nvSpPr>
        <p:spPr>
          <a:xfrm>
            <a:off x="13938825" y="4288060"/>
            <a:ext cx="3384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75"/>
              <a:buFont typeface="Schibsted Grotesk"/>
              <a:buNone/>
            </a:pPr>
            <a:r>
              <a:rPr b="1" lang="en-US" sz="21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Debriefing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3"/>
          <p:cNvSpPr/>
          <p:nvPr/>
        </p:nvSpPr>
        <p:spPr>
          <a:xfrm>
            <a:off x="13938825" y="4716685"/>
            <a:ext cx="3168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Questionario SUS e commenti finali.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3"/>
          <p:cNvSpPr/>
          <p:nvPr/>
        </p:nvSpPr>
        <p:spPr>
          <a:xfrm>
            <a:off x="13071075" y="4425130"/>
            <a:ext cx="647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BCC8"/>
              </a:buClr>
              <a:buSzPts val="2550"/>
              <a:buFont typeface="Schibsted Grotesk"/>
              <a:buNone/>
            </a:pPr>
            <a:r>
              <a:rPr b="0" i="0" lang="en-US" sz="2550" u="none" cap="none" strike="noStrike">
                <a:solidFill>
                  <a:srgbClr val="B4BCC8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3"/>
          <p:cNvSpPr/>
          <p:nvPr/>
        </p:nvSpPr>
        <p:spPr>
          <a:xfrm>
            <a:off x="9429675" y="3625073"/>
            <a:ext cx="3667200" cy="2435100"/>
          </a:xfrm>
          <a:prstGeom prst="roundRect">
            <a:avLst>
              <a:gd fmla="val 8381" name="adj"/>
            </a:avLst>
          </a:prstGeom>
          <a:solidFill>
            <a:srgbClr val="EAF3FF"/>
          </a:solidFill>
          <a:ln cap="flat" cmpd="sng" w="9525">
            <a:solidFill>
              <a:srgbClr val="B3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3"/>
          <p:cNvSpPr/>
          <p:nvPr/>
        </p:nvSpPr>
        <p:spPr>
          <a:xfrm>
            <a:off x="9724950" y="3935760"/>
            <a:ext cx="3384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</a:t>
            </a:r>
            <a:r>
              <a:rPr b="1" lang="en-US" sz="180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3"/>
          <p:cNvSpPr/>
          <p:nvPr/>
        </p:nvSpPr>
        <p:spPr>
          <a:xfrm>
            <a:off x="9724950" y="4307235"/>
            <a:ext cx="3384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8C"/>
              </a:buClr>
              <a:buSzPts val="2175"/>
              <a:buFont typeface="Schibsted Grotesk"/>
              <a:buNone/>
            </a:pPr>
            <a:r>
              <a:rPr b="1" lang="en-US" sz="2175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Esecuzione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3"/>
          <p:cNvSpPr/>
          <p:nvPr/>
        </p:nvSpPr>
        <p:spPr>
          <a:xfrm>
            <a:off x="9724950" y="4735860"/>
            <a:ext cx="3168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5558C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3555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Compiti e scenari, </a:t>
            </a:r>
            <a:r>
              <a:rPr b="1" lang="en-US" sz="1800">
                <a:solidFill>
                  <a:srgbClr val="3555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due moduli compilati in parallelo.</a:t>
            </a:r>
            <a:endParaRPr i="0" sz="1800" u="none" cap="none" strike="noStrike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970" name="Google Shape;970;p2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1" name="Google Shape;971;p23"/>
          <p:cNvSpPr/>
          <p:nvPr/>
        </p:nvSpPr>
        <p:spPr>
          <a:xfrm>
            <a:off x="964825" y="6567750"/>
            <a:ext cx="5166300" cy="2656800"/>
          </a:xfrm>
          <a:prstGeom prst="roundRect">
            <a:avLst>
              <a:gd fmla="val 5542" name="adj"/>
            </a:avLst>
          </a:prstGeom>
          <a:solidFill>
            <a:srgbClr val="FFFFFF"/>
          </a:solidFill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3"/>
          <p:cNvSpPr/>
          <p:nvPr/>
        </p:nvSpPr>
        <p:spPr>
          <a:xfrm>
            <a:off x="1267181" y="6857592"/>
            <a:ext cx="2660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Modulo anagrafica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3"/>
          <p:cNvSpPr/>
          <p:nvPr/>
        </p:nvSpPr>
        <p:spPr>
          <a:xfrm>
            <a:off x="1310833" y="7391325"/>
            <a:ext cx="44478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Raccolta dati anagrafici, abitudini di studio e AI.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974" name="Google Shape;974;p23"/>
          <p:cNvSpPr/>
          <p:nvPr/>
        </p:nvSpPr>
        <p:spPr>
          <a:xfrm>
            <a:off x="6560862" y="6567750"/>
            <a:ext cx="5166300" cy="2656800"/>
          </a:xfrm>
          <a:prstGeom prst="roundRect">
            <a:avLst>
              <a:gd fmla="val 5542" name="adj"/>
            </a:avLst>
          </a:prstGeom>
          <a:solidFill>
            <a:srgbClr val="FFFFFF"/>
          </a:solidFill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3"/>
          <p:cNvSpPr/>
          <p:nvPr/>
        </p:nvSpPr>
        <p:spPr>
          <a:xfrm>
            <a:off x="6863231" y="6857600"/>
            <a:ext cx="4447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Questionario di valutazione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3"/>
          <p:cNvSpPr/>
          <p:nvPr/>
        </p:nvSpPr>
        <p:spPr>
          <a:xfrm>
            <a:off x="6906868" y="7391325"/>
            <a:ext cx="44478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Raccolta </a:t>
            </a:r>
            <a:r>
              <a:rPr i="1"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success rate </a:t>
            </a: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 difficoltà percepita tramite scala Likert.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 conclude con il questionario SUS.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977" name="Google Shape;977;p23"/>
          <p:cNvSpPr/>
          <p:nvPr/>
        </p:nvSpPr>
        <p:spPr>
          <a:xfrm>
            <a:off x="12156899" y="6567750"/>
            <a:ext cx="5166300" cy="2656800"/>
          </a:xfrm>
          <a:prstGeom prst="roundRect">
            <a:avLst>
              <a:gd fmla="val 5542" name="adj"/>
            </a:avLst>
          </a:prstGeom>
          <a:solidFill>
            <a:srgbClr val="FFFFFF"/>
          </a:solidFill>
          <a:ln cap="flat" cmpd="sng" w="9525">
            <a:solidFill>
              <a:srgbClr val="C4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3"/>
          <p:cNvSpPr/>
          <p:nvPr/>
        </p:nvSpPr>
        <p:spPr>
          <a:xfrm>
            <a:off x="12459249" y="6857600"/>
            <a:ext cx="4447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Modulo dello sperimentatore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3"/>
          <p:cNvSpPr/>
          <p:nvPr/>
        </p:nvSpPr>
        <p:spPr>
          <a:xfrm>
            <a:off x="12502904" y="7391325"/>
            <a:ext cx="44478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Tiene traccia delle metriche raccolte durante ogni task.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00"/>
              <a:buFont typeface="Schibsted Grotesk"/>
              <a:buNone/>
            </a:pPr>
            <a:r>
              <a:rPr lang="en-US" sz="1800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Compilato dallo sperimentatore in parallelo all’utente.</a:t>
            </a:r>
            <a:endParaRPr sz="1800">
              <a:solidFill>
                <a:srgbClr val="4A516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980" name="Google Shape;980;p23"/>
          <p:cNvSpPr/>
          <p:nvPr/>
        </p:nvSpPr>
        <p:spPr>
          <a:xfrm>
            <a:off x="952504" y="3003100"/>
            <a:ext cx="7401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100"/>
              <a:buFont typeface="Schibsted Grotesk"/>
              <a:buNone/>
            </a:pPr>
            <a:r>
              <a:rPr b="1" lang="en-US" sz="2100">
                <a:solidFill>
                  <a:srgbClr val="0F3F8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FASI DELL’ESPERIMENTO</a:t>
            </a:r>
            <a:endParaRPr b="1" sz="2100">
              <a:solidFill>
                <a:srgbClr val="0F3F8C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f3b43976e0_1_0"/>
          <p:cNvSpPr/>
          <p:nvPr/>
        </p:nvSpPr>
        <p:spPr>
          <a:xfrm>
            <a:off x="2086100" y="6216000"/>
            <a:ext cx="13527300" cy="3154800"/>
          </a:xfrm>
          <a:prstGeom prst="roundRect">
            <a:avLst>
              <a:gd fmla="val 6151" name="adj"/>
            </a:avLst>
          </a:prstGeom>
          <a:solidFill>
            <a:srgbClr val="FFFFFF"/>
          </a:solidFill>
          <a:ln cap="flat" cmpd="sng" w="75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g3f3b43976e0_1_0"/>
          <p:cNvSpPr/>
          <p:nvPr/>
        </p:nvSpPr>
        <p:spPr>
          <a:xfrm>
            <a:off x="12240730" y="7353000"/>
            <a:ext cx="3159600" cy="1785000"/>
          </a:xfrm>
          <a:prstGeom prst="roundRect">
            <a:avLst>
              <a:gd fmla="val 8403" name="adj"/>
            </a:avLst>
          </a:prstGeom>
          <a:solidFill>
            <a:srgbClr val="F7F8FA"/>
          </a:solidFill>
          <a:ln cap="flat" cmpd="sng" w="75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g3f3b43976e0_1_0"/>
          <p:cNvSpPr/>
          <p:nvPr/>
        </p:nvSpPr>
        <p:spPr>
          <a:xfrm>
            <a:off x="2086100" y="2747950"/>
            <a:ext cx="13527300" cy="3154800"/>
          </a:xfrm>
          <a:prstGeom prst="roundRect">
            <a:avLst>
              <a:gd fmla="val 6151" name="adj"/>
            </a:avLst>
          </a:prstGeom>
          <a:solidFill>
            <a:srgbClr val="FFFFFF"/>
          </a:solidFill>
          <a:ln cap="flat" cmpd="sng" w="75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f3b43976e0_1_0"/>
          <p:cNvSpPr/>
          <p:nvPr/>
        </p:nvSpPr>
        <p:spPr>
          <a:xfrm>
            <a:off x="952500" y="962025"/>
            <a:ext cx="2769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 DEI DATI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f3b43976e0_1_0"/>
          <p:cNvSpPr/>
          <p:nvPr/>
        </p:nvSpPr>
        <p:spPr>
          <a:xfrm>
            <a:off x="15146685" y="857250"/>
            <a:ext cx="2188800" cy="48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g3f3b43976e0_1_0"/>
          <p:cNvSpPr/>
          <p:nvPr/>
        </p:nvSpPr>
        <p:spPr>
          <a:xfrm>
            <a:off x="15384810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g3f3b43976e0_1_0"/>
          <p:cNvSpPr/>
          <p:nvPr/>
        </p:nvSpPr>
        <p:spPr>
          <a:xfrm>
            <a:off x="15613410" y="962025"/>
            <a:ext cx="1632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g3f3b43976e0_1_0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Analisi: scenario due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g3f3b43976e0_1_0"/>
          <p:cNvSpPr/>
          <p:nvPr/>
        </p:nvSpPr>
        <p:spPr>
          <a:xfrm>
            <a:off x="2319175" y="3884950"/>
            <a:ext cx="3159600" cy="1785000"/>
          </a:xfrm>
          <a:prstGeom prst="roundRect">
            <a:avLst>
              <a:gd fmla="val 8403" name="adj"/>
            </a:avLst>
          </a:prstGeom>
          <a:solidFill>
            <a:srgbClr val="F7F8FA"/>
          </a:solidFill>
          <a:ln cap="flat" cmpd="sng" w="75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3f3b43976e0_1_0"/>
          <p:cNvSpPr/>
          <p:nvPr/>
        </p:nvSpPr>
        <p:spPr>
          <a:xfrm>
            <a:off x="2552156" y="4177432"/>
            <a:ext cx="29625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4606"/>
              <a:buFont typeface="Schibsted Grotesk"/>
              <a:buNone/>
            </a:pPr>
            <a:r>
              <a:rPr b="1" i="0" lang="en-US" sz="4606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−8</a:t>
            </a:r>
            <a:r>
              <a:rPr b="1" lang="en-US" sz="4606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r>
              <a:rPr b="1" i="0" lang="en-US" sz="4606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%</a:t>
            </a:r>
            <a:endParaRPr b="0" i="0" sz="4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f3b43976e0_1_0"/>
          <p:cNvSpPr/>
          <p:nvPr/>
        </p:nvSpPr>
        <p:spPr>
          <a:xfrm>
            <a:off x="2552156" y="4837392"/>
            <a:ext cx="2962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94"/>
              <a:buFont typeface="Schibsted Grotesk"/>
              <a:buNone/>
            </a:pPr>
            <a:r>
              <a:rPr b="1" i="0" lang="en-US" sz="1594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errori</a:t>
            </a:r>
            <a:endParaRPr b="0" i="0" sz="1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g3f3b43976e0_1_0"/>
          <p:cNvSpPr/>
          <p:nvPr/>
        </p:nvSpPr>
        <p:spPr>
          <a:xfrm>
            <a:off x="2552156" y="5159873"/>
            <a:ext cx="2962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417"/>
              <a:buFont typeface="Schibsted Grotesk"/>
              <a:buNone/>
            </a:pPr>
            <a:r>
              <a:rPr b="0" i="0" lang="en-US" sz="1417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 = </a:t>
            </a:r>
            <a:r>
              <a:rPr lang="en-US" sz="1417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0,01</a:t>
            </a:r>
            <a:endParaRPr b="0" i="0" sz="14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g3f3b43976e0_1_0"/>
          <p:cNvSpPr/>
          <p:nvPr/>
        </p:nvSpPr>
        <p:spPr>
          <a:xfrm>
            <a:off x="5626365" y="3884950"/>
            <a:ext cx="3159600" cy="1785000"/>
          </a:xfrm>
          <a:prstGeom prst="roundRect">
            <a:avLst>
              <a:gd fmla="val 8403" name="adj"/>
            </a:avLst>
          </a:prstGeom>
          <a:solidFill>
            <a:srgbClr val="F7F8FA"/>
          </a:solidFill>
          <a:ln cap="flat" cmpd="sng" w="75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g3f3b43976e0_1_0"/>
          <p:cNvSpPr/>
          <p:nvPr/>
        </p:nvSpPr>
        <p:spPr>
          <a:xfrm>
            <a:off x="5859346" y="4177432"/>
            <a:ext cx="29625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4606"/>
              <a:buFont typeface="Schibsted Grotesk"/>
              <a:buNone/>
            </a:pPr>
            <a:r>
              <a:rPr b="1" lang="en-US" sz="4606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−59</a:t>
            </a:r>
            <a:r>
              <a:rPr b="1" i="0" lang="en-US" sz="4606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%</a:t>
            </a:r>
            <a:endParaRPr b="0" i="0" sz="4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g3f3b43976e0_1_0"/>
          <p:cNvSpPr/>
          <p:nvPr/>
        </p:nvSpPr>
        <p:spPr>
          <a:xfrm>
            <a:off x="5859346" y="4837392"/>
            <a:ext cx="2962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94"/>
              <a:buFont typeface="Schibsted Grotesk"/>
              <a:buNone/>
            </a:pPr>
            <a:r>
              <a:rPr b="1" i="0" lang="en-US" sz="1594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click</a:t>
            </a:r>
            <a:endParaRPr b="0" i="0" sz="1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g3f3b43976e0_1_0"/>
          <p:cNvSpPr/>
          <p:nvPr/>
        </p:nvSpPr>
        <p:spPr>
          <a:xfrm>
            <a:off x="5859346" y="5159873"/>
            <a:ext cx="2962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417"/>
              <a:buFont typeface="Schibsted Grotesk"/>
              <a:buNone/>
            </a:pPr>
            <a:r>
              <a:rPr lang="en-US" sz="1417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 = 0,004</a:t>
            </a:r>
            <a:endParaRPr sz="14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g3f3b43976e0_1_0"/>
          <p:cNvSpPr/>
          <p:nvPr/>
        </p:nvSpPr>
        <p:spPr>
          <a:xfrm>
            <a:off x="8933555" y="3884950"/>
            <a:ext cx="3159600" cy="1785000"/>
          </a:xfrm>
          <a:prstGeom prst="roundRect">
            <a:avLst>
              <a:gd fmla="val 8403" name="adj"/>
            </a:avLst>
          </a:prstGeom>
          <a:solidFill>
            <a:srgbClr val="F7F8FA"/>
          </a:solidFill>
          <a:ln cap="flat" cmpd="sng" w="75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g3f3b43976e0_1_0"/>
          <p:cNvSpPr/>
          <p:nvPr/>
        </p:nvSpPr>
        <p:spPr>
          <a:xfrm>
            <a:off x="9166536" y="4177432"/>
            <a:ext cx="29625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4606"/>
              <a:buFont typeface="Schibsted Grotesk"/>
              <a:buNone/>
            </a:pPr>
            <a:r>
              <a:rPr b="1" i="0" lang="en-US" sz="4606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−4</a:t>
            </a:r>
            <a:r>
              <a:rPr b="1" lang="en-US" sz="4606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</a:t>
            </a:r>
            <a:r>
              <a:rPr b="1" i="0" lang="en-US" sz="4606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%</a:t>
            </a:r>
            <a:endParaRPr b="0" i="0" sz="4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f3b43976e0_1_0"/>
          <p:cNvSpPr/>
          <p:nvPr/>
        </p:nvSpPr>
        <p:spPr>
          <a:xfrm>
            <a:off x="9166536" y="4837392"/>
            <a:ext cx="2962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94"/>
              <a:buFont typeface="Schibsted Grotesk"/>
              <a:buNone/>
            </a:pPr>
            <a:r>
              <a:rPr b="1" i="0" lang="en-US" sz="1594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tempo</a:t>
            </a:r>
            <a:endParaRPr b="0" i="0" sz="1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g3f3b43976e0_1_0"/>
          <p:cNvSpPr/>
          <p:nvPr/>
        </p:nvSpPr>
        <p:spPr>
          <a:xfrm>
            <a:off x="9166536" y="5159873"/>
            <a:ext cx="2962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417"/>
              <a:buFont typeface="Schibsted Grotesk"/>
              <a:buNone/>
            </a:pPr>
            <a:r>
              <a:rPr lang="en-US" sz="1417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 = 0,01</a:t>
            </a:r>
            <a:endParaRPr sz="14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417"/>
              <a:buFont typeface="Schibsted Grotesk"/>
              <a:buNone/>
            </a:pPr>
            <a:r>
              <a:t/>
            </a:r>
            <a:endParaRPr sz="14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3f3b43976e0_1_0"/>
          <p:cNvSpPr/>
          <p:nvPr/>
        </p:nvSpPr>
        <p:spPr>
          <a:xfrm>
            <a:off x="2514257" y="2945436"/>
            <a:ext cx="2058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834"/>
              <a:buFont typeface="Schibsted Grotesk"/>
              <a:buNone/>
            </a:pPr>
            <a:r>
              <a:rPr b="1" lang="en-US" sz="2834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Ordine AB</a:t>
            </a:r>
            <a:endParaRPr b="0" i="0" sz="2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g3f3b43976e0_1_0"/>
          <p:cNvSpPr/>
          <p:nvPr/>
        </p:nvSpPr>
        <p:spPr>
          <a:xfrm>
            <a:off x="2514257" y="3417908"/>
            <a:ext cx="20586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417"/>
              <a:buFont typeface="Schibsted Grotesk"/>
              <a:buNone/>
            </a:pPr>
            <a:r>
              <a:rPr lang="en-US" sz="1417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9 utenti</a:t>
            </a:r>
            <a:endParaRPr b="0" i="0" sz="14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3f3b43976e0_1_0"/>
          <p:cNvSpPr/>
          <p:nvPr/>
        </p:nvSpPr>
        <p:spPr>
          <a:xfrm>
            <a:off x="4565052" y="4867739"/>
            <a:ext cx="7800" cy="8022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g3f3b43976e0_1_0"/>
          <p:cNvSpPr/>
          <p:nvPr/>
        </p:nvSpPr>
        <p:spPr>
          <a:xfrm>
            <a:off x="2319175" y="7415975"/>
            <a:ext cx="3159600" cy="1785000"/>
          </a:xfrm>
          <a:prstGeom prst="roundRect">
            <a:avLst>
              <a:gd fmla="val 8403" name="adj"/>
            </a:avLst>
          </a:prstGeom>
          <a:solidFill>
            <a:srgbClr val="F7F8FA"/>
          </a:solidFill>
          <a:ln cap="flat" cmpd="sng" w="75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g3f3b43976e0_1_0"/>
          <p:cNvSpPr/>
          <p:nvPr/>
        </p:nvSpPr>
        <p:spPr>
          <a:xfrm>
            <a:off x="2552156" y="7708457"/>
            <a:ext cx="29625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4606"/>
              <a:buFont typeface="Schibsted Grotesk"/>
              <a:buNone/>
            </a:pPr>
            <a:r>
              <a:rPr b="1" lang="en-US" sz="4606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800</a:t>
            </a:r>
            <a:r>
              <a:rPr b="1" i="0" lang="en-US" sz="4606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%</a:t>
            </a:r>
            <a:endParaRPr b="0" i="0" sz="4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g3f3b43976e0_1_0"/>
          <p:cNvSpPr/>
          <p:nvPr/>
        </p:nvSpPr>
        <p:spPr>
          <a:xfrm>
            <a:off x="2552156" y="8368417"/>
            <a:ext cx="2962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94"/>
              <a:buFont typeface="Schibsted Grotesk"/>
              <a:buNone/>
            </a:pPr>
            <a:r>
              <a:rPr b="1" i="0" lang="en-US" sz="1594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errori</a:t>
            </a:r>
            <a:endParaRPr b="0" i="0" sz="1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3f3b43976e0_1_0"/>
          <p:cNvSpPr/>
          <p:nvPr/>
        </p:nvSpPr>
        <p:spPr>
          <a:xfrm>
            <a:off x="2552156" y="8690898"/>
            <a:ext cx="2962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417"/>
              <a:buFont typeface="Schibsted Grotesk"/>
              <a:buNone/>
            </a:pPr>
            <a:r>
              <a:rPr b="0" i="0" lang="en-US" sz="1417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 = </a:t>
            </a:r>
            <a:r>
              <a:rPr lang="en-US" sz="1417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0,001</a:t>
            </a:r>
            <a:endParaRPr b="0" i="0" sz="14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g3f3b43976e0_1_0"/>
          <p:cNvSpPr/>
          <p:nvPr/>
        </p:nvSpPr>
        <p:spPr>
          <a:xfrm>
            <a:off x="5626365" y="7415975"/>
            <a:ext cx="3159600" cy="1785000"/>
          </a:xfrm>
          <a:prstGeom prst="roundRect">
            <a:avLst>
              <a:gd fmla="val 8403" name="adj"/>
            </a:avLst>
          </a:prstGeom>
          <a:solidFill>
            <a:srgbClr val="F7F8FA"/>
          </a:solidFill>
          <a:ln cap="flat" cmpd="sng" w="75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g3f3b43976e0_1_0"/>
          <p:cNvSpPr/>
          <p:nvPr/>
        </p:nvSpPr>
        <p:spPr>
          <a:xfrm>
            <a:off x="5859346" y="7708457"/>
            <a:ext cx="29625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4606"/>
              <a:buFont typeface="Schibsted Grotesk"/>
              <a:buNone/>
            </a:pPr>
            <a:r>
              <a:rPr b="1" lang="en-US" sz="4606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150</a:t>
            </a:r>
            <a:r>
              <a:rPr b="1" i="0" lang="en-US" sz="4606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%</a:t>
            </a:r>
            <a:endParaRPr b="0" i="0" sz="4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g3f3b43976e0_1_0"/>
          <p:cNvSpPr/>
          <p:nvPr/>
        </p:nvSpPr>
        <p:spPr>
          <a:xfrm>
            <a:off x="5859346" y="8368417"/>
            <a:ext cx="2962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94"/>
              <a:buFont typeface="Schibsted Grotesk"/>
              <a:buNone/>
            </a:pPr>
            <a:r>
              <a:rPr b="1" i="0" lang="en-US" sz="1594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click</a:t>
            </a:r>
            <a:endParaRPr b="0" i="0" sz="1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g3f3b43976e0_1_0"/>
          <p:cNvSpPr/>
          <p:nvPr/>
        </p:nvSpPr>
        <p:spPr>
          <a:xfrm>
            <a:off x="5859346" y="8690898"/>
            <a:ext cx="2962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417"/>
              <a:buFont typeface="Schibsted Grotesk"/>
              <a:buNone/>
            </a:pPr>
            <a:r>
              <a:rPr lang="en-US" sz="1417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 = 0,001</a:t>
            </a:r>
            <a:endParaRPr sz="14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g3f3b43976e0_1_0"/>
          <p:cNvSpPr/>
          <p:nvPr/>
        </p:nvSpPr>
        <p:spPr>
          <a:xfrm>
            <a:off x="8933555" y="7415975"/>
            <a:ext cx="3159600" cy="1785000"/>
          </a:xfrm>
          <a:prstGeom prst="roundRect">
            <a:avLst>
              <a:gd fmla="val 8403" name="adj"/>
            </a:avLst>
          </a:prstGeom>
          <a:solidFill>
            <a:srgbClr val="F7F8FA"/>
          </a:solidFill>
          <a:ln cap="flat" cmpd="sng" w="75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f3b43976e0_1_0"/>
          <p:cNvSpPr/>
          <p:nvPr/>
        </p:nvSpPr>
        <p:spPr>
          <a:xfrm>
            <a:off x="9166536" y="7708457"/>
            <a:ext cx="29625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4606"/>
              <a:buFont typeface="Schibsted Grotesk"/>
              <a:buNone/>
            </a:pPr>
            <a:r>
              <a:rPr b="1" lang="en-US" sz="4606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14</a:t>
            </a:r>
            <a:r>
              <a:rPr b="1" i="0" lang="en-US" sz="4606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%</a:t>
            </a:r>
            <a:endParaRPr b="0" i="0" sz="4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g3f3b43976e0_1_0"/>
          <p:cNvSpPr/>
          <p:nvPr/>
        </p:nvSpPr>
        <p:spPr>
          <a:xfrm>
            <a:off x="9166536" y="8368417"/>
            <a:ext cx="2962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94"/>
              <a:buFont typeface="Schibsted Grotesk"/>
              <a:buNone/>
            </a:pPr>
            <a:r>
              <a:rPr b="1" i="0" lang="en-US" sz="1594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tempo</a:t>
            </a:r>
            <a:endParaRPr b="0" i="0" sz="1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g3f3b43976e0_1_0"/>
          <p:cNvSpPr/>
          <p:nvPr/>
        </p:nvSpPr>
        <p:spPr>
          <a:xfrm>
            <a:off x="9166536" y="8690898"/>
            <a:ext cx="2962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417"/>
              <a:buFont typeface="Schibsted Grotesk"/>
              <a:buNone/>
            </a:pPr>
            <a:r>
              <a:rPr lang="en-US" sz="1417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 = 0,3</a:t>
            </a:r>
            <a:endParaRPr sz="14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g3f3b43976e0_1_0"/>
          <p:cNvSpPr/>
          <p:nvPr/>
        </p:nvSpPr>
        <p:spPr>
          <a:xfrm>
            <a:off x="2514257" y="6476461"/>
            <a:ext cx="2058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834"/>
              <a:buFont typeface="Schibsted Grotesk"/>
              <a:buNone/>
            </a:pPr>
            <a:r>
              <a:rPr b="1" lang="en-US" sz="2834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Ordine BA</a:t>
            </a:r>
            <a:endParaRPr b="0" i="0" sz="2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g3f3b43976e0_1_0"/>
          <p:cNvSpPr/>
          <p:nvPr/>
        </p:nvSpPr>
        <p:spPr>
          <a:xfrm>
            <a:off x="2514257" y="6948933"/>
            <a:ext cx="20586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417"/>
              <a:buFont typeface="Schibsted Grotesk"/>
              <a:buNone/>
            </a:pPr>
            <a:r>
              <a:rPr lang="en-US" sz="1417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 utenti</a:t>
            </a:r>
            <a:endParaRPr b="0" i="0" sz="14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g3f3b43976e0_1_0"/>
          <p:cNvSpPr/>
          <p:nvPr/>
        </p:nvSpPr>
        <p:spPr>
          <a:xfrm>
            <a:off x="4565052" y="8398764"/>
            <a:ext cx="7800" cy="8022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g3f3b43976e0_1_0"/>
          <p:cNvSpPr/>
          <p:nvPr/>
        </p:nvSpPr>
        <p:spPr>
          <a:xfrm>
            <a:off x="12240730" y="3884950"/>
            <a:ext cx="3159600" cy="1785000"/>
          </a:xfrm>
          <a:prstGeom prst="roundRect">
            <a:avLst>
              <a:gd fmla="val 8403" name="adj"/>
            </a:avLst>
          </a:prstGeom>
          <a:solidFill>
            <a:srgbClr val="F7F8FA"/>
          </a:solidFill>
          <a:ln cap="flat" cmpd="sng" w="750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g3f3b43976e0_1_0"/>
          <p:cNvSpPr/>
          <p:nvPr/>
        </p:nvSpPr>
        <p:spPr>
          <a:xfrm>
            <a:off x="12509576" y="4227475"/>
            <a:ext cx="20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lang="en-US" sz="195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g3f3b43976e0_1_0"/>
          <p:cNvSpPr/>
          <p:nvPr/>
        </p:nvSpPr>
        <p:spPr>
          <a:xfrm>
            <a:off x="15034076" y="4211731"/>
            <a:ext cx="20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g3f3b43976e0_1_0"/>
          <p:cNvSpPr/>
          <p:nvPr/>
        </p:nvSpPr>
        <p:spPr>
          <a:xfrm>
            <a:off x="12509576" y="4722775"/>
            <a:ext cx="20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lang="en-US" sz="195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g3f3b43976e0_1_0"/>
          <p:cNvSpPr/>
          <p:nvPr/>
        </p:nvSpPr>
        <p:spPr>
          <a:xfrm>
            <a:off x="12844450" y="473230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g3f3b43976e0_1_0"/>
          <p:cNvSpPr/>
          <p:nvPr/>
        </p:nvSpPr>
        <p:spPr>
          <a:xfrm>
            <a:off x="15034076" y="4707031"/>
            <a:ext cx="20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g3f3b43976e0_1_0"/>
          <p:cNvSpPr/>
          <p:nvPr/>
        </p:nvSpPr>
        <p:spPr>
          <a:xfrm>
            <a:off x="13268082" y="473230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g3f3b43976e0_1_0"/>
          <p:cNvSpPr/>
          <p:nvPr/>
        </p:nvSpPr>
        <p:spPr>
          <a:xfrm>
            <a:off x="13691714" y="473230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3f3b43976e0_1_0"/>
          <p:cNvSpPr/>
          <p:nvPr/>
        </p:nvSpPr>
        <p:spPr>
          <a:xfrm>
            <a:off x="14115346" y="473230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g3f3b43976e0_1_0"/>
          <p:cNvSpPr/>
          <p:nvPr/>
        </p:nvSpPr>
        <p:spPr>
          <a:xfrm>
            <a:off x="14538977" y="473230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g3f3b43976e0_1_0"/>
          <p:cNvSpPr/>
          <p:nvPr/>
        </p:nvSpPr>
        <p:spPr>
          <a:xfrm>
            <a:off x="12844463" y="426557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BF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g3f3b43976e0_1_0"/>
          <p:cNvSpPr/>
          <p:nvPr/>
        </p:nvSpPr>
        <p:spPr>
          <a:xfrm>
            <a:off x="13268095" y="426557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BF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g3f3b43976e0_1_0"/>
          <p:cNvSpPr/>
          <p:nvPr/>
        </p:nvSpPr>
        <p:spPr>
          <a:xfrm>
            <a:off x="13691726" y="426557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BF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g3f3b43976e0_1_0"/>
          <p:cNvSpPr/>
          <p:nvPr/>
        </p:nvSpPr>
        <p:spPr>
          <a:xfrm>
            <a:off x="14115358" y="426557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g3f3b43976e0_1_0"/>
          <p:cNvSpPr/>
          <p:nvPr/>
        </p:nvSpPr>
        <p:spPr>
          <a:xfrm>
            <a:off x="14538990" y="426557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g3f3b43976e0_1_0"/>
          <p:cNvSpPr/>
          <p:nvPr/>
        </p:nvSpPr>
        <p:spPr>
          <a:xfrm>
            <a:off x="12509586" y="5065667"/>
            <a:ext cx="2962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94"/>
              <a:buFont typeface="Schibsted Grotesk"/>
              <a:buNone/>
            </a:pPr>
            <a:r>
              <a:rPr b="1" lang="en-US" sz="1594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difficoltà percepita</a:t>
            </a:r>
            <a:endParaRPr b="0" i="0" sz="1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g3f3b43976e0_1_0"/>
          <p:cNvSpPr/>
          <p:nvPr/>
        </p:nvSpPr>
        <p:spPr>
          <a:xfrm>
            <a:off x="12409226" y="7695525"/>
            <a:ext cx="20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lang="en-US" sz="195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g3f3b43976e0_1_0"/>
          <p:cNvSpPr/>
          <p:nvPr/>
        </p:nvSpPr>
        <p:spPr>
          <a:xfrm>
            <a:off x="14933726" y="7679781"/>
            <a:ext cx="20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g3f3b43976e0_1_0"/>
          <p:cNvSpPr/>
          <p:nvPr/>
        </p:nvSpPr>
        <p:spPr>
          <a:xfrm>
            <a:off x="12409226" y="8190825"/>
            <a:ext cx="20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lang="en-US" sz="195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g3f3b43976e0_1_0"/>
          <p:cNvSpPr/>
          <p:nvPr/>
        </p:nvSpPr>
        <p:spPr>
          <a:xfrm>
            <a:off x="12744100" y="820035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BF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3f3b43976e0_1_0"/>
          <p:cNvSpPr/>
          <p:nvPr/>
        </p:nvSpPr>
        <p:spPr>
          <a:xfrm>
            <a:off x="14933726" y="8175081"/>
            <a:ext cx="20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g3f3b43976e0_1_0"/>
          <p:cNvSpPr/>
          <p:nvPr/>
        </p:nvSpPr>
        <p:spPr>
          <a:xfrm>
            <a:off x="13167732" y="820035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BF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g3f3b43976e0_1_0"/>
          <p:cNvSpPr/>
          <p:nvPr/>
        </p:nvSpPr>
        <p:spPr>
          <a:xfrm>
            <a:off x="13591364" y="820035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BF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g3f3b43976e0_1_0"/>
          <p:cNvSpPr/>
          <p:nvPr/>
        </p:nvSpPr>
        <p:spPr>
          <a:xfrm>
            <a:off x="14014996" y="820035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BF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3f3b43976e0_1_0"/>
          <p:cNvSpPr/>
          <p:nvPr/>
        </p:nvSpPr>
        <p:spPr>
          <a:xfrm>
            <a:off x="14438627" y="8200350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g3f3b43976e0_1_0"/>
          <p:cNvSpPr/>
          <p:nvPr/>
        </p:nvSpPr>
        <p:spPr>
          <a:xfrm>
            <a:off x="12744113" y="773362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f3b43976e0_1_0"/>
          <p:cNvSpPr/>
          <p:nvPr/>
        </p:nvSpPr>
        <p:spPr>
          <a:xfrm>
            <a:off x="13167745" y="773362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3f3b43976e0_1_0"/>
          <p:cNvSpPr/>
          <p:nvPr/>
        </p:nvSpPr>
        <p:spPr>
          <a:xfrm>
            <a:off x="13591376" y="773362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f3b43976e0_1_0"/>
          <p:cNvSpPr/>
          <p:nvPr/>
        </p:nvSpPr>
        <p:spPr>
          <a:xfrm>
            <a:off x="14015008" y="773362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g3f3b43976e0_1_0"/>
          <p:cNvSpPr/>
          <p:nvPr/>
        </p:nvSpPr>
        <p:spPr>
          <a:xfrm>
            <a:off x="14438640" y="7733625"/>
            <a:ext cx="397500" cy="266700"/>
          </a:xfrm>
          <a:prstGeom prst="roundRect">
            <a:avLst>
              <a:gd fmla="val 25000" name="adj"/>
            </a:avLst>
          </a:prstGeom>
          <a:solidFill>
            <a:srgbClr val="E8EC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g3f3b43976e0_1_0"/>
          <p:cNvSpPr/>
          <p:nvPr/>
        </p:nvSpPr>
        <p:spPr>
          <a:xfrm>
            <a:off x="12409236" y="8533717"/>
            <a:ext cx="2962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20000" spcFirstLastPara="1" rIns="20000" wrap="square" tIns="2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94"/>
              <a:buFont typeface="Schibsted Grotesk"/>
              <a:buNone/>
            </a:pPr>
            <a:r>
              <a:rPr b="1" lang="en-US" sz="1594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difficoltà percepita</a:t>
            </a:r>
            <a:endParaRPr b="0" i="0" sz="1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g3f3b43976e0_1_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4"/>
          <p:cNvSpPr/>
          <p:nvPr/>
        </p:nvSpPr>
        <p:spPr>
          <a:xfrm>
            <a:off x="952500" y="962025"/>
            <a:ext cx="27699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 DEI DATI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4"/>
          <p:cNvSpPr/>
          <p:nvPr/>
        </p:nvSpPr>
        <p:spPr>
          <a:xfrm>
            <a:off x="15146685" y="857250"/>
            <a:ext cx="2188815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4"/>
          <p:cNvSpPr/>
          <p:nvPr/>
        </p:nvSpPr>
        <p:spPr>
          <a:xfrm>
            <a:off x="15384810" y="1042988"/>
            <a:ext cx="114300" cy="1143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4"/>
          <p:cNvSpPr/>
          <p:nvPr/>
        </p:nvSpPr>
        <p:spPr>
          <a:xfrm>
            <a:off x="15613410" y="962025"/>
            <a:ext cx="1632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4"/>
          <p:cNvSpPr/>
          <p:nvPr/>
        </p:nvSpPr>
        <p:spPr>
          <a:xfrm>
            <a:off x="952500" y="1533525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5100"/>
              <a:buFont typeface="Schibsted Grotesk"/>
              <a:buNone/>
            </a:pPr>
            <a:r>
              <a:rPr b="1" lang="en-US" sz="5100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Analisi: q</a:t>
            </a:r>
            <a:r>
              <a:rPr b="1" i="0" lang="en-US" sz="510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uestionario SUS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4"/>
          <p:cNvSpPr/>
          <p:nvPr/>
        </p:nvSpPr>
        <p:spPr>
          <a:xfrm>
            <a:off x="952500" y="6014145"/>
            <a:ext cx="7810500" cy="28575"/>
          </a:xfrm>
          <a:prstGeom prst="rect">
            <a:avLst/>
          </a:prstGeom>
          <a:solidFill>
            <a:srgbClr val="B4B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4"/>
          <p:cNvSpPr/>
          <p:nvPr/>
        </p:nvSpPr>
        <p:spPr>
          <a:xfrm>
            <a:off x="7779990" y="5705475"/>
            <a:ext cx="10592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soglia 68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4"/>
          <p:cNvSpPr/>
          <p:nvPr/>
        </p:nvSpPr>
        <p:spPr>
          <a:xfrm>
            <a:off x="3033266" y="6276975"/>
            <a:ext cx="1058019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3000"/>
              <a:buFont typeface="Schibsted Grotesk"/>
              <a:buNone/>
            </a:pPr>
            <a:r>
              <a:rPr b="1" i="0" lang="en-US" sz="300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47,67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/>
          <p:nvPr/>
        </p:nvSpPr>
        <p:spPr>
          <a:xfrm>
            <a:off x="2619375" y="6858000"/>
            <a:ext cx="1809750" cy="1905000"/>
          </a:xfrm>
          <a:prstGeom prst="roundRect">
            <a:avLst>
              <a:gd fmla="val 7368" name="adj"/>
            </a:avLst>
          </a:prstGeom>
          <a:solidFill>
            <a:srgbClr val="C4CB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4"/>
          <p:cNvSpPr/>
          <p:nvPr/>
        </p:nvSpPr>
        <p:spPr>
          <a:xfrm>
            <a:off x="5693866" y="4928295"/>
            <a:ext cx="10708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3000"/>
              <a:buFont typeface="Schibsted Grotesk"/>
              <a:buNone/>
            </a:pPr>
            <a:r>
              <a:rPr b="1" i="0" lang="en-US" sz="300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81,33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4"/>
          <p:cNvSpPr/>
          <p:nvPr/>
        </p:nvSpPr>
        <p:spPr>
          <a:xfrm>
            <a:off x="5286375" y="5509320"/>
            <a:ext cx="1809750" cy="3253680"/>
          </a:xfrm>
          <a:prstGeom prst="roundRect">
            <a:avLst>
              <a:gd fmla="val 7368" name="adj"/>
            </a:avLst>
          </a:prstGeom>
          <a:solidFill>
            <a:srgbClr val="00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4"/>
          <p:cNvSpPr/>
          <p:nvPr/>
        </p:nvSpPr>
        <p:spPr>
          <a:xfrm>
            <a:off x="952500" y="8953500"/>
            <a:ext cx="7810500" cy="1905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4"/>
          <p:cNvSpPr/>
          <p:nvPr/>
        </p:nvSpPr>
        <p:spPr>
          <a:xfrm>
            <a:off x="2528888" y="9124950"/>
            <a:ext cx="199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5A627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Versione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4"/>
          <p:cNvSpPr/>
          <p:nvPr/>
        </p:nvSpPr>
        <p:spPr>
          <a:xfrm>
            <a:off x="5195888" y="9124950"/>
            <a:ext cx="199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Versione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4"/>
          <p:cNvSpPr/>
          <p:nvPr/>
        </p:nvSpPr>
        <p:spPr>
          <a:xfrm>
            <a:off x="9525000" y="3579019"/>
            <a:ext cx="8591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L'ORDINE CAMBIA IL GIUDIZIO, MA NON IL VERDETTO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4"/>
          <p:cNvSpPr/>
          <p:nvPr/>
        </p:nvSpPr>
        <p:spPr>
          <a:xfrm>
            <a:off x="9525000" y="4093369"/>
            <a:ext cx="7810500" cy="819150"/>
          </a:xfrm>
          <a:prstGeom prst="roundRect">
            <a:avLst>
              <a:gd fmla="val 1860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4"/>
          <p:cNvSpPr/>
          <p:nvPr/>
        </p:nvSpPr>
        <p:spPr>
          <a:xfrm>
            <a:off x="9839325" y="4350544"/>
            <a:ext cx="183127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Gruppo A →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4"/>
          <p:cNvSpPr/>
          <p:nvPr/>
        </p:nvSpPr>
        <p:spPr>
          <a:xfrm>
            <a:off x="14786967" y="4350544"/>
            <a:ext cx="245762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 </a:t>
            </a:r>
            <a:r>
              <a:rPr b="1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63,06 </a:t>
            </a: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 B </a:t>
            </a:r>
            <a:r>
              <a:rPr b="1" i="0" lang="en-US" sz="1950" u="none" cap="none" strike="noStrike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89,44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4"/>
          <p:cNvSpPr/>
          <p:nvPr/>
        </p:nvSpPr>
        <p:spPr>
          <a:xfrm>
            <a:off x="9525000" y="5141119"/>
            <a:ext cx="7810500" cy="819150"/>
          </a:xfrm>
          <a:prstGeom prst="roundRect">
            <a:avLst>
              <a:gd fmla="val 18605" name="adj"/>
            </a:avLst>
          </a:prstGeom>
          <a:solidFill>
            <a:srgbClr val="F7F8FA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4"/>
          <p:cNvSpPr/>
          <p:nvPr/>
        </p:nvSpPr>
        <p:spPr>
          <a:xfrm>
            <a:off x="9839325" y="5398294"/>
            <a:ext cx="183127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Gruppo B →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4"/>
          <p:cNvSpPr/>
          <p:nvPr/>
        </p:nvSpPr>
        <p:spPr>
          <a:xfrm>
            <a:off x="14884747" y="5398294"/>
            <a:ext cx="235007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950"/>
              <a:buFont typeface="Schibsted Grotesk"/>
              <a:buNone/>
            </a:pP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 </a:t>
            </a:r>
            <a:r>
              <a:rPr b="1" lang="en-US" sz="1950">
                <a:solidFill>
                  <a:srgbClr val="007A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69,17</a:t>
            </a:r>
            <a:r>
              <a:rPr b="1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</a:t>
            </a:r>
            <a:r>
              <a:rPr b="0" i="0" lang="en-US" sz="1950" u="none" cap="none" strike="noStrike">
                <a:solidFill>
                  <a:srgbClr val="3A415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 A </a:t>
            </a:r>
            <a:r>
              <a:rPr b="1" i="0" lang="en-US" sz="1950" u="none" cap="none" strike="noStrike">
                <a:solidFill>
                  <a:srgbClr val="B4232A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24,58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4"/>
          <p:cNvSpPr/>
          <p:nvPr/>
        </p:nvSpPr>
        <p:spPr>
          <a:xfrm>
            <a:off x="9525000" y="6188869"/>
            <a:ext cx="8044815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1C1C1E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Effetto contrasto: </a:t>
            </a:r>
            <a:r>
              <a:rPr b="0" i="0" lang="en-US" sz="1875" u="none" cap="none" strike="noStrike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dopo la B, i limiti della A diventano intollerabili — il giudizio crolla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4"/>
          <p:cNvSpPr/>
          <p:nvPr/>
        </p:nvSpPr>
        <p:spPr>
          <a:xfrm>
            <a:off x="9525000" y="7108031"/>
            <a:ext cx="7810500" cy="1533525"/>
          </a:xfrm>
          <a:prstGeom prst="roundRect">
            <a:avLst>
              <a:gd fmla="val 9938" name="adj"/>
            </a:avLst>
          </a:prstGeom>
          <a:solidFill>
            <a:srgbClr val="E5F5EA"/>
          </a:solidFill>
          <a:ln cap="flat" cmpd="sng" w="9525">
            <a:solidFill>
              <a:srgbClr val="1E7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4"/>
          <p:cNvSpPr/>
          <p:nvPr/>
        </p:nvSpPr>
        <p:spPr>
          <a:xfrm>
            <a:off x="9839325" y="7365206"/>
            <a:ext cx="79000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3F"/>
              </a:buClr>
              <a:buSzPts val="1800"/>
              <a:buFont typeface="Schibsted Grotesk"/>
              <a:buNone/>
            </a:pPr>
            <a:r>
              <a:rPr b="1" lang="en-US" sz="1800">
                <a:solidFill>
                  <a:srgbClr val="1E7B3C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VERDETTO</a:t>
            </a:r>
            <a:endParaRPr b="0" i="0" sz="1800" u="none" cap="none" strike="noStrike">
              <a:solidFill>
                <a:srgbClr val="1E7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4"/>
          <p:cNvSpPr/>
          <p:nvPr/>
        </p:nvSpPr>
        <p:spPr>
          <a:xfrm>
            <a:off x="9839325" y="7717631"/>
            <a:ext cx="739730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60"/>
              </a:buClr>
              <a:buSzPts val="1875"/>
              <a:buFont typeface="Schibsted Grotesk"/>
              <a:buNone/>
            </a:pPr>
            <a:r>
              <a:rPr lang="en-US" sz="1875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Tutte le variazioni registrate dal Questionario SUS risultano statisticamente significative </a:t>
            </a:r>
            <a:r>
              <a:rPr b="1" lang="en-US" sz="1950">
                <a:solidFill>
                  <a:schemeClr val="dk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→ </a:t>
            </a:r>
            <a:r>
              <a:rPr lang="en-US" sz="1875">
                <a:solidFill>
                  <a:srgbClr val="4A516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l’ipotesi nulla è falsa.</a:t>
            </a:r>
            <a:endParaRPr b="0" i="1" sz="1875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4"/>
          <p:cNvSpPr/>
          <p:nvPr/>
        </p:nvSpPr>
        <p:spPr>
          <a:xfrm>
            <a:off x="952500" y="3594425"/>
            <a:ext cx="2350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2"/>
              </a:buClr>
              <a:buSzPts val="1875"/>
              <a:buFont typeface="Schibsted Grotesk"/>
              <a:buNone/>
            </a:pPr>
            <a:r>
              <a:rPr b="1" lang="en-US" sz="1875">
                <a:solidFill>
                  <a:srgbClr val="8A93A2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DATI AGGREGATI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AFF"/>
        </a:solid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25"/>
          <p:cNvSpPr/>
          <p:nvPr/>
        </p:nvSpPr>
        <p:spPr>
          <a:xfrm>
            <a:off x="1047750" y="962025"/>
            <a:ext cx="16200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D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CHIUSURA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5"/>
          <p:cNvSpPr/>
          <p:nvPr/>
        </p:nvSpPr>
        <p:spPr>
          <a:xfrm>
            <a:off x="15162609" y="857250"/>
            <a:ext cx="2077641" cy="4857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5"/>
          <p:cNvSpPr/>
          <p:nvPr/>
        </p:nvSpPr>
        <p:spPr>
          <a:xfrm>
            <a:off x="15400734" y="1042988"/>
            <a:ext cx="114300" cy="114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5"/>
          <p:cNvSpPr/>
          <p:nvPr/>
        </p:nvSpPr>
        <p:spPr>
          <a:xfrm>
            <a:off x="15625909" y="942938"/>
            <a:ext cx="1510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5"/>
          <p:cNvSpPr/>
          <p:nvPr/>
        </p:nvSpPr>
        <p:spPr>
          <a:xfrm>
            <a:off x="1047750" y="1533525"/>
            <a:ext cx="17811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Schibsted Grotesk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Sviluppi futuri e conclusioni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5"/>
          <p:cNvSpPr/>
          <p:nvPr/>
        </p:nvSpPr>
        <p:spPr>
          <a:xfrm>
            <a:off x="1047750" y="2790825"/>
            <a:ext cx="95461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D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PRIORITÀ GUIDATE DAI DATI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5"/>
          <p:cNvSpPr/>
          <p:nvPr/>
        </p:nvSpPr>
        <p:spPr>
          <a:xfrm>
            <a:off x="1047750" y="3257550"/>
            <a:ext cx="8678317" cy="1150441"/>
          </a:xfrm>
          <a:prstGeom prst="roundRect">
            <a:avLst>
              <a:gd fmla="val 13247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5"/>
          <p:cNvSpPr/>
          <p:nvPr/>
        </p:nvSpPr>
        <p:spPr>
          <a:xfrm>
            <a:off x="1333500" y="3505200"/>
            <a:ext cx="1824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D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5"/>
          <p:cNvSpPr/>
          <p:nvPr/>
        </p:nvSpPr>
        <p:spPr>
          <a:xfrm>
            <a:off x="1630263" y="3486150"/>
            <a:ext cx="804435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Rinomina ridisegnata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— azione dedicata, campo precompilato, modifica dall'anteprima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5"/>
          <p:cNvSpPr/>
          <p:nvPr/>
        </p:nvSpPr>
        <p:spPr>
          <a:xfrm>
            <a:off x="1047750" y="4598491"/>
            <a:ext cx="8678317" cy="1150441"/>
          </a:xfrm>
          <a:prstGeom prst="roundRect">
            <a:avLst>
              <a:gd fmla="val 13247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5"/>
          <p:cNvSpPr/>
          <p:nvPr/>
        </p:nvSpPr>
        <p:spPr>
          <a:xfrm>
            <a:off x="1333500" y="4846141"/>
            <a:ext cx="2265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D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5"/>
          <p:cNvSpPr/>
          <p:nvPr/>
        </p:nvSpPr>
        <p:spPr>
          <a:xfrm>
            <a:off x="1674316" y="4827091"/>
            <a:ext cx="799898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Caricamento ibrido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— nuova cartella e file in un solo passaggio, la richiesta più ricorrente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5"/>
          <p:cNvSpPr/>
          <p:nvPr/>
        </p:nvSpPr>
        <p:spPr>
          <a:xfrm>
            <a:off x="1047750" y="5939433"/>
            <a:ext cx="8678317" cy="1150441"/>
          </a:xfrm>
          <a:prstGeom prst="roundRect">
            <a:avLst>
              <a:gd fmla="val 13247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5"/>
          <p:cNvSpPr/>
          <p:nvPr/>
        </p:nvSpPr>
        <p:spPr>
          <a:xfrm>
            <a:off x="1333500" y="6187083"/>
            <a:ext cx="22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D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5"/>
          <p:cNvSpPr/>
          <p:nvPr/>
        </p:nvSpPr>
        <p:spPr>
          <a:xfrm>
            <a:off x="1676102" y="6168033"/>
            <a:ext cx="7997141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chibsted Grotesk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Azioni contestuali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— «Aggiungi a esame» direttamente dalla community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5"/>
          <p:cNvSpPr/>
          <p:nvPr/>
        </p:nvSpPr>
        <p:spPr>
          <a:xfrm>
            <a:off x="1047750" y="7356574"/>
            <a:ext cx="2806750" cy="4476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F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5"/>
          <p:cNvSpPr/>
          <p:nvPr/>
        </p:nvSpPr>
        <p:spPr>
          <a:xfrm>
            <a:off x="1195524" y="7418308"/>
            <a:ext cx="259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EAF3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Output AI modificabili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5"/>
          <p:cNvSpPr/>
          <p:nvPr/>
        </p:nvSpPr>
        <p:spPr>
          <a:xfrm>
            <a:off x="3968800" y="7356574"/>
            <a:ext cx="3408313" cy="4476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F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5"/>
          <p:cNvSpPr/>
          <p:nvPr/>
        </p:nvSpPr>
        <p:spPr>
          <a:xfrm>
            <a:off x="4126176" y="7413867"/>
            <a:ext cx="3139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EAF3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Assistente conversazionale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5"/>
          <p:cNvSpPr/>
          <p:nvPr/>
        </p:nvSpPr>
        <p:spPr>
          <a:xfrm>
            <a:off x="1047750" y="7918549"/>
            <a:ext cx="3201739" cy="4476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F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5"/>
          <p:cNvSpPr/>
          <p:nvPr/>
        </p:nvSpPr>
        <p:spPr>
          <a:xfrm>
            <a:off x="1190909" y="7975842"/>
            <a:ext cx="2964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EAF3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Pianificazione intelligente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5"/>
          <p:cNvSpPr/>
          <p:nvPr/>
        </p:nvSpPr>
        <p:spPr>
          <a:xfrm>
            <a:off x="4363789" y="7918549"/>
            <a:ext cx="2501950" cy="4476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F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5"/>
          <p:cNvSpPr/>
          <p:nvPr/>
        </p:nvSpPr>
        <p:spPr>
          <a:xfrm>
            <a:off x="4535392" y="7975842"/>
            <a:ext cx="2230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EAF3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Workshop di studio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5"/>
          <p:cNvSpPr/>
          <p:nvPr/>
        </p:nvSpPr>
        <p:spPr>
          <a:xfrm>
            <a:off x="6980039" y="7918549"/>
            <a:ext cx="1640384" cy="44767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F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5"/>
          <p:cNvSpPr/>
          <p:nvPr/>
        </p:nvSpPr>
        <p:spPr>
          <a:xfrm>
            <a:off x="7165848" y="7975841"/>
            <a:ext cx="1316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EAF3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App mobile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5"/>
          <p:cNvSpPr/>
          <p:nvPr/>
        </p:nvSpPr>
        <p:spPr>
          <a:xfrm>
            <a:off x="10297567" y="2790825"/>
            <a:ext cx="76369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DFF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IN UNA RIGA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5"/>
          <p:cNvSpPr/>
          <p:nvPr/>
        </p:nvSpPr>
        <p:spPr>
          <a:xfrm>
            <a:off x="10297567" y="3257550"/>
            <a:ext cx="7150964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chibsted Grotes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Ridurre lo sforzo cognitivo si può misurare — e ripaga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5"/>
          <p:cNvSpPr/>
          <p:nvPr/>
        </p:nvSpPr>
        <p:spPr>
          <a:xfrm>
            <a:off x="10297567" y="4400550"/>
            <a:ext cx="2964656" cy="476250"/>
          </a:xfrm>
          <a:prstGeom prst="roundRect">
            <a:avLst>
              <a:gd fmla="val 50000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5"/>
          <p:cNvSpPr/>
          <p:nvPr/>
        </p:nvSpPr>
        <p:spPr>
          <a:xfrm>
            <a:off x="10511951" y="4467367"/>
            <a:ext cx="259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80/93 problemi risolti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5"/>
          <p:cNvSpPr/>
          <p:nvPr/>
        </p:nvSpPr>
        <p:spPr>
          <a:xfrm>
            <a:off x="13395573" y="4400550"/>
            <a:ext cx="2230338" cy="476250"/>
          </a:xfrm>
          <a:prstGeom prst="roundRect">
            <a:avLst>
              <a:gd fmla="val 50000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5"/>
          <p:cNvSpPr/>
          <p:nvPr/>
        </p:nvSpPr>
        <p:spPr>
          <a:xfrm>
            <a:off x="13609957" y="4467367"/>
            <a:ext cx="184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SUS 47,7 → 81,3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5"/>
          <p:cNvSpPr/>
          <p:nvPr/>
        </p:nvSpPr>
        <p:spPr>
          <a:xfrm>
            <a:off x="10297567" y="5010150"/>
            <a:ext cx="3270796" cy="476250"/>
          </a:xfrm>
          <a:prstGeom prst="roundRect">
            <a:avLst>
              <a:gd fmla="val 50000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5"/>
          <p:cNvSpPr/>
          <p:nvPr/>
        </p:nvSpPr>
        <p:spPr>
          <a:xfrm>
            <a:off x="10511951" y="5076967"/>
            <a:ext cx="291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chibsted Grotesk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click −50% negli scenari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5"/>
          <p:cNvSpPr/>
          <p:nvPr/>
        </p:nvSpPr>
        <p:spPr>
          <a:xfrm>
            <a:off x="14521117" y="7535978"/>
            <a:ext cx="2927400" cy="10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Schibsted Grotesk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Grazie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5"/>
          <p:cNvSpPr/>
          <p:nvPr/>
        </p:nvSpPr>
        <p:spPr>
          <a:xfrm>
            <a:off x="12453150" y="8712200"/>
            <a:ext cx="4787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FDDFF"/>
              </a:buClr>
              <a:buSzPts val="1800"/>
              <a:buFont typeface="Schibsted Grotesk"/>
              <a:buNone/>
            </a:pPr>
            <a:r>
              <a:rPr b="0" i="0" lang="en-US" sz="1800" u="none" cap="none" strike="noStrike">
                <a:solidFill>
                  <a:srgbClr val="BFDDFF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Okba Kharef · Matteo Legati · Simone Rinaldi Progetto HCI · BrainBox · A.A. 2025/26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5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9" name="Google Shape;1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76200"/>
            <a:ext cx="18135600" cy="101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41775" y="671093"/>
            <a:ext cx="2806750" cy="858115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25"/>
          <p:cNvSpPr/>
          <p:nvPr/>
        </p:nvSpPr>
        <p:spPr>
          <a:xfrm>
            <a:off x="15120740" y="853835"/>
            <a:ext cx="2188800" cy="485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FE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5"/>
          <p:cNvSpPr/>
          <p:nvPr/>
        </p:nvSpPr>
        <p:spPr>
          <a:xfrm>
            <a:off x="15358865" y="1039573"/>
            <a:ext cx="114300" cy="114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5"/>
          <p:cNvSpPr/>
          <p:nvPr/>
        </p:nvSpPr>
        <p:spPr>
          <a:xfrm>
            <a:off x="15587465" y="958610"/>
            <a:ext cx="1632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Schibsted Grotesk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Matteo Legati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2026-07-10T08:48:43Z</dcterms:created>
  <dc:creator>PptxGenJS</dc:creator>
</cp:coreProperties>
</file>